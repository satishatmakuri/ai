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011680"/>
            <a:ext cx="54864" cy="2743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572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3969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9809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2219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6634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55046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18872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SEVEN-LAYER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212080" y="2971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Global R&amp;D Collaboration Framework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3566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AI Initiatives — Kick-off Meeting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 · RL Workload Gen · Automated Failure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5486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AI Solutions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Physical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1225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590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 Orchestration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431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 Application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200400"/>
            <a:ext cx="4206240" cy="256032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Global Sync-up | SSIR-PE &amp; DSK-PE AI Teams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Introductions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6093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from all R&amp;D centers — 10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39696"/>
            <a:ext cx="64008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2311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Seven-Layer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 for standardized AI initiative structure — 20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64008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55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182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AI Initiatives Overview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5112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Spec-to-Test, RL Workload Generation, Automated Failure Analysis — 20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41648"/>
            <a:ext cx="64008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Best Practices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4622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shares · DSK-PE shares · Open discussion — 20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992624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992624"/>
            <a:ext cx="64008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157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50840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Collaboration Plan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5413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owners, timelines, and next sync — 10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5248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STANDARD ARCHITECTURE?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Current State: AI projects lack a standard for overall system structure — making cross-team collaboration and governance difficult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374904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37490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8346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initiative uses its own ad-hoc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347472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layer taxonomy across 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411480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tooling &amp; model selection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475488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and share learnings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539496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40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debt accumulates fast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240280"/>
            <a:ext cx="374904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2240280"/>
            <a:ext cx="37490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Gaps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62272" y="283464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and DSK-PE work in silos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62272" y="347472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engineering effort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62272" y="411480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repository for reusable components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62272" y="47548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workload models not portable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62272" y="53949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5340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approaches diverge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2240280"/>
            <a:ext cx="374904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2240280"/>
            <a:ext cx="3749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94192" y="28346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AI Architecture standard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94192" y="34747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tooling &amp; model governance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94192" y="41148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4108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 &amp; prompt libraries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94192" y="475488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lesson &amp; best practice cadence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94192" y="539496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41080" y="5340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long-term AI roadmap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SEVEN-LAYER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sustainable, technology-agnostic framework for all AI initiatives in QA engineering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7548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170432"/>
            <a:ext cx="11064240" cy="62179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25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24358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products &amp; QA AI tools — Test dashboards, failure reports, test case portals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3716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47548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7568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920240"/>
            <a:ext cx="11064240" cy="621792"/>
          </a:xfrm>
          <a:prstGeom prst="rect">
            <a:avLst/>
          </a:prstGeom>
          <a:solidFill>
            <a:srgbClr val="0891B2">
              <a:alpha val="18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199339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coordination — LangChain, Airflow, multi-agent pipelines, prompt chaining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2029968"/>
            <a:ext cx="13716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70048"/>
            <a:ext cx="47548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254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670048"/>
            <a:ext cx="11064240" cy="621792"/>
          </a:xfrm>
          <a:prstGeom prst="rect">
            <a:avLst/>
          </a:prstGeom>
          <a:solidFill>
            <a:srgbClr val="06B6D4">
              <a:alpha val="1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— Spec parser agent, RL workload agent, failure triage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2779776"/>
            <a:ext cx="13716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19856"/>
            <a:ext cx="47548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7530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3419856"/>
            <a:ext cx="11064240" cy="621792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49300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RAG &amp; vector stores — Test spec DB, failure history, product datasheets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0" y="3529584"/>
            <a:ext cx="13716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169664"/>
            <a:ext cx="47548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2511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" y="4169664"/>
            <a:ext cx="11064240" cy="621792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424281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RL models — GPT-4o, Claude, fine-tuned domain models, PPO/SAC agents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0" y="4279392"/>
            <a:ext cx="1371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919472"/>
            <a:ext cx="47548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07492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9808" y="4919472"/>
            <a:ext cx="11064240" cy="621792"/>
          </a:xfrm>
          <a:prstGeom prst="rect">
            <a:avLst/>
          </a:prstGeom>
          <a:solidFill>
            <a:srgbClr val="F97316">
              <a:alpha val="18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499262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inference data — NVMe logs, SATA traces, labeled test corpora, synthetic 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40480" y="5029200"/>
            <a:ext cx="13716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5669280"/>
            <a:ext cx="475488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58247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9808" y="5669280"/>
            <a:ext cx="11064240" cy="621792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724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31920" y="57424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platforms — CUDA/ROCm, cloud GPUs, on-prem HPC, MLOps pipelines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0" y="5779008"/>
            <a:ext cx="1371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Our Initiatives span all 7 Layers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1  |  SPEC-TO-TEST CASE &amp; SCRIPT GENERATION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E9D5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0642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 / PRD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673352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39112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9397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Parser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Layer)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660904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26664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C4B5F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815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Layer)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3648456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14216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A78BF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690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Synthesizer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 Layer)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4636008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001768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0566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Layer)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1005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240" y="150876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06240" y="150876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1600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189280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 docs, functional requirement sheets, datasheets, historical test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269748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269748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788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408" y="30815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RAG-augmented LLM with domain-fine-tuned prompts; multi-shot learning from prior test suites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388620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06240" y="388620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3977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07408" y="42702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test cases (Gherkin/YAML), executable scripts (Python/Robot Framework), coverage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507492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06240" y="507492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51663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Goals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07408" y="545896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conditions, stress scenarios, regression, negative path — auto-prioritized by risk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6355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L3 Model · L4 Context · L5 Agent · L6 Orchestration · L7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2  |  RL-BASED WORKLOAD GENERATION — NVMe &amp; SATA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Loop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0" y="1508760"/>
            <a:ext cx="164592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metrics)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0" y="2286000"/>
            <a:ext cx="164592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3108960"/>
            <a:ext cx="1645920" cy="777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(Workload cmd)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1645920" cy="7772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(NVMe/SATA)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Pass/Fail + 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46304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554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read/write stress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317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queue depth optimization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089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boundary workloads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86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wear simulation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634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failure injection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78240" y="146304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1527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15400" y="1764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SAC for continuous control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78240" y="224028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15400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IOPS, latency, queue, temp, wear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301752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081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15400" y="3319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size, queue depth, pattern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379476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15400" y="4096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 + stress reached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778240" y="457200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15400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15400" y="4873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RLlib + custom NVMe env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L1 Infrastructure · L2 Data · L3 Model (RL) · L4 Context · L5 Agent · L6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3  |  AUTOMATED FAILURE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14884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9192" y="1051560"/>
            <a:ext cx="2148840" cy="91440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38344" y="1051560"/>
            <a:ext cx="214884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8344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87184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7496" y="1051560"/>
            <a:ext cx="21488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496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46336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56648" y="1051560"/>
            <a:ext cx="21488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6648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" y="91440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9584" y="914400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88736" y="91440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47888" y="91440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07040" y="91440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0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194560"/>
            <a:ext cx="37490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194560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Analyzes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&amp; wear indicators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35584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3192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patterns (NLP)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41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failure sequences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5994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562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 (temp, vibration)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522122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184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revision cross-reference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51960" y="2194560"/>
            <a:ext cx="37490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51960" y="2194560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 Used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34840" y="27340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NLP for log parsing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34840" y="335584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3192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 time-series anomaly detection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434840" y="397764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941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for failure pattern grouping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34840" y="45994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562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for causal chains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34840" y="522122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5184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natural language reports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83880" y="2194560"/>
            <a:ext cx="37490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183880" y="2194560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Deliverables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366760" y="27340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classification report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366760" y="335584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33192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 score per unit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66760" y="397764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0" y="3941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action suggestions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66760" y="45994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4562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Auto-filed bug reports / JIRA tickets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66760" y="522122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95360" y="5184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dashboard for QA leadership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L2 Data · L3 Model · L4 Context · L5 Agent · L6 Orchestration · L7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INITIATIVE-TO-LAYER MAPPING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QA AI initiative maps across the seven-layer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0" y="1097280"/>
            <a:ext cx="2377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75120" y="1097280"/>
            <a:ext cx="23774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Workload 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35440" y="1097280"/>
            <a:ext cx="23774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Failure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3657600" cy="566928"/>
          </a:xfrm>
          <a:prstGeom prst="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9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1691640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01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1691640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0" y="1691640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801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3657600" cy="566928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78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Orch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2350008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75120" y="2350008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35440" y="2350008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74320" y="3008376"/>
            <a:ext cx="3657600" cy="566928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1363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Agent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3008376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75120" y="3008376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35440" y="3008376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3666744"/>
            <a:ext cx="3657600" cy="566928"/>
          </a:xfrm>
          <a:prstGeom prst="rect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94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Context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3666744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3776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675120" y="3666744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776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235440" y="3666744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776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74320" y="4325112"/>
            <a:ext cx="3657600" cy="566928"/>
          </a:xfrm>
          <a:prstGeom prst="rect">
            <a:avLst/>
          </a:prstGeom>
          <a:solidFill>
            <a:srgbClr val="F59E0B">
              <a:alpha val="3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4531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Model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0" y="4325112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675120" y="4325112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235440" y="4325112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74320" y="4983480"/>
            <a:ext cx="3657600" cy="566928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5111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Data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14800" y="4983480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5120" y="4983480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5093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235440" y="4983480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35440" y="5093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274320" y="5641848"/>
            <a:ext cx="3657600" cy="566928"/>
          </a:xfrm>
          <a:prstGeom prst="rect">
            <a:avLst/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57698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Infra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114800" y="5641848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5641848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5751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235440" y="5641848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Infrastructure: All initiatives share common L1 infra, L4 vector store, and L6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COLLABORATION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715000" cy="43891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AI Team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81912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81912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6367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TC DSK requests and send DSK the reinforced TC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2112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Ongoing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14600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256946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structure of AI Initiative per 7-Layer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3044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47288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47288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35021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Re-write AI Technology Application Development Roadmap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3977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379976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379976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" y="44348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Spec-to-Test pilot results with DSK-PE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4910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8, 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312664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5312664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385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53675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common vector store schema for test context (L4)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" y="5843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15, 2026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1005840"/>
            <a:ext cx="571500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078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DSK-PE AI Team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1581912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1581912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93408" y="16367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vulnerable cases of function verification (classified as vulnerable)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93408" y="2112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Since April 2026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2514600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9360" y="2514600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93408" y="256946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technology &amp; tool expertise on Reinforcement Learning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93408" y="3044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2026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3447288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3447288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93408" y="35021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DSK AI projects to the 7-Layer Architecture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93408" y="3977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9360" y="4379976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09360" y="4379976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93408" y="44348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NVMe &amp; SATA workload specs for RL environment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93408" y="4910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8, 2026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9360" y="5312664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09360" y="5312664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5385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93408" y="53675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AI initiative coordinator from DSK-PE team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93408" y="5843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MODEL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sustainable AI engineering community across R&amp;D centers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5120640"/>
          </a:xfrm>
          <a:prstGeom prst="rect">
            <a:avLst/>
          </a:prstGeom>
          <a:solidFill>
            <a:srgbClr val="0D3B7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architecture review 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08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compliance checklist for new initiatives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69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API contracts between layers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029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registry &amp; versioning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097280"/>
            <a:ext cx="3657600" cy="5120640"/>
          </a:xfrm>
          <a:prstGeom prst="rect">
            <a:avLst/>
          </a:prstGeom>
          <a:solidFill>
            <a:srgbClr val="0D3B7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97280"/>
            <a:ext cx="36576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Cadence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210312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sync: SSIR-PE ↔ DSK-PE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06324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08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Lessons &amp; Best Practice summit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402336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069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Confluence/Wiki for AI runbooks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498348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5029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Inner-source code repository (GitHub)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097280"/>
            <a:ext cx="3657600" cy="5120640"/>
          </a:xfrm>
          <a:prstGeom prst="rect">
            <a:avLst/>
          </a:prstGeom>
          <a:solidFill>
            <a:srgbClr val="0D3B7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097280"/>
            <a:ext cx="36576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Initiative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12480" y="210312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Architecture alignment &amp; pilots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306324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108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Cross-team RL model sharing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0" y="402336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4069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Unified failure analysis pipeline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12480" y="498348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5029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2026: Full integration &amp; scale-out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1908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Meeting: TBD (April 2026) — AI Architecture alignment session | Confirm date with all R&amp;D centers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828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12161520" cy="1828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12161520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468880"/>
            <a:ext cx="12161520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91840"/>
            <a:ext cx="12161520" cy="18288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12161520" cy="18288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37760"/>
            <a:ext cx="12161520" cy="1828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AI-POWERED QA — TOGETHER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Initiatives · One Architecture · One Global Team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343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 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4343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Workload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4343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Failure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Architecture  |  QA Engineering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 ROADMAP  —  1-YEAR PLAN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 · FY2026 · Quality &amp; Efficiency AI Initiatives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2491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(Jan–Mar)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724912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(Apr–Jun)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960120"/>
            <a:ext cx="272491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(Jul–Sep)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06840" y="960120"/>
            <a:ext cx="2724912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 (Oct–Dec)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1430000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4475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INITIATIVES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RCA / Anomaly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Failure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Prioritization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Clustering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Script Redundancy Removal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Score Improvement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Code Generation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0684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999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Comment, Debug &amp; Fix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0684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999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Dependency Matrix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00684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999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 Refactoring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743200"/>
            <a:ext cx="11430000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779776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INITIATIVES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Test Scenarios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 → Scripts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→ Test Scenarios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 – Test Plan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3712464"/>
            <a:ext cx="2724912" cy="283464"/>
          </a:xfrm>
          <a:prstGeom prst="rect">
            <a:avLst/>
          </a:prstGeom>
          <a:solidFill>
            <a:srgbClr val="7C3AED">
              <a:alpha val="37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3739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– Chat, Report, IMS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2648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Assistant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&amp; Summarize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3712464"/>
            <a:ext cx="2724912" cy="283464"/>
          </a:xfrm>
          <a:prstGeom prst="rect">
            <a:avLst/>
          </a:prstGeom>
          <a:solidFill>
            <a:srgbClr val="7C3AED">
              <a:alpha val="37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3739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Matrix Planner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4023360"/>
            <a:ext cx="2724912" cy="283464"/>
          </a:xfrm>
          <a:prstGeom prst="rect">
            <a:avLst/>
          </a:prstGeom>
          <a:solidFill>
            <a:srgbClr val="7C3AED">
              <a:alpha val="28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4050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Event Log Monitor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0684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7999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Gen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00684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7999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Firmware Validation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06840" y="3712464"/>
            <a:ext cx="2724912" cy="283464"/>
          </a:xfrm>
          <a:prstGeom prst="rect">
            <a:avLst/>
          </a:prstGeom>
          <a:solidFill>
            <a:srgbClr val="7C3AED">
              <a:alpha val="37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79992" y="3739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102352"/>
            <a:ext cx="1143000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5138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18488" y="539496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baseline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pilot launch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498848" y="5394960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612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begins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79208" y="539496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259568" y="5394960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0684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deployment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 review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65760" y="656539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shade = later in phase rollout    ◉ = Milestone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QUALITY AI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24160" y="15544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41832"/>
            <a:ext cx="27980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41832"/>
            <a:ext cx="27980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41832"/>
            <a:ext cx="27980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KPI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941832"/>
            <a:ext cx="27980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KPI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35024"/>
            <a:ext cx="11612880" cy="74980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35024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40817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RCA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Anomaly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accuracy ≥ 90%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&lt; 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RCA cycle time 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Auto-triage in &lt; 5 min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0684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Manual effort 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more cases per engineer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30552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30552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03704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 &gt; 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traceability 100%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Manual review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&lt; 2 hrs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Coverage throughput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release escapes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11612880" cy="74980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26080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99232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Defect detect rate 25%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tests first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Regression run time 40%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 per commit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0684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Test ROI per cycle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wasted capacity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21608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21608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94760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acc. 92%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linked to spec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Turnaround 65%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&lt; 10 min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0684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cases/engineer/day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auto-filed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517136"/>
            <a:ext cx="11612880" cy="74980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517136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590288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4612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Pre-merge bug catch 30%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compliance 99%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Review cycle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 instant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0684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PRs reviewed/day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focus on logic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5312664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312664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538581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Score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4612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score target ≥ 85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compliance escapes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Manual audit effort 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 feedback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00684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Developer self-service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compliance rework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6583680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= Increase target   ↓ = Reduction target   KPIs measured quarterly against pre-initiative baseline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EFFICIENCY AI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149840" y="15544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228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41832"/>
            <a:ext cx="27980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41832"/>
            <a:ext cx="27980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41832"/>
            <a:ext cx="27980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KPI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941832"/>
            <a:ext cx="27980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KPI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35024"/>
            <a:ext cx="11612880" cy="74980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35024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40817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Test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coverage ≥ 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SME-validated accuracy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Scenario creation 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scenarios in &lt; 1 hr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0684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Engineer output 5×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prod in 2 sprints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30552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30552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03704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Scripts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correctness ≥ 90%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syntax + logic check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Script authoring 65%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 scripts same-day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Script throughput 4×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rework on manual scripts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11612880" cy="74980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26080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99232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completeness ≥ 98%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always covered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Planning effort 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generated in &lt; 30 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0684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Planning capacity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QA leads for strategy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21608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21608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94760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– Chat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IMS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 ≥ 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traceability 100%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Reporting effort 75%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 from chat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0684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Report gen speed 10×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IMS entry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517136"/>
            <a:ext cx="11612880" cy="74980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517136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590288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Event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4612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97%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failures missed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Log review time 80%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in &lt; 1 min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0684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devices/FTE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vs. periodic review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5312664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312664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538581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Valid.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4612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coverage 100%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escape &lt; 1%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Validation cycle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on DUTs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00684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Throughput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firmware release cadence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6583680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= Increase target   ↓ = Reduction target   All KPIs baselined at initiative kickoff and reviewed quarterly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Architecture &amp; R&amp;D Collaboration</dc:title>
  <dc:subject>PptxGenJS Presentation</dc:subject>
  <dc:creator>AI Solutions Architect</dc:creator>
  <cp:lastModifiedBy>AI Solutions Architect</cp:lastModifiedBy>
  <cp:revision>1</cp:revision>
  <dcterms:created xsi:type="dcterms:W3CDTF">2026-04-20T04:54:58Z</dcterms:created>
  <dcterms:modified xsi:type="dcterms:W3CDTF">2026-04-20T04:54:58Z</dcterms:modified>
</cp:coreProperties>
</file>
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60" r:id="rId3"/>
    <p:sldId id="261" r:id="rId4"/>
    <p:sldId id="263" r:id="rId5"/>
    <p:sldId id="265" r:id="rId6"/>
    <p:sldId id="267" r:id="rId7"/>
    <p:sldId id="268" r:id="rId8"/>
    <p:sldId id="270" r:id="rId9"/>
    <p:sldId id="272" r:id="rId10"/>
    <p:sldId id="274" r:id="rId11"/>
    <p:sldId id="280" r:id="rId12"/>
    <p:sldId id="283" r:id="rId13"/>
    <p:sldId id="28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66" d="100"/>
          <a:sy n="66" d="100"/>
        </p:scale>
        <p:origin x="36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A663-DF9E-94BB-0B17-E30FB67C5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764931-016A-0A4D-02DA-14E5A6CED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FDAD8B-DB7A-CEAB-17FB-F95684860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3FE1E-43CA-3036-D153-15422B891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6A556-B5A0-DF27-8B6B-6E3F5167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72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44B0-E6E5-67DB-FEEF-1EA564D34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0DD4-FDF5-0ED8-B734-5317E53B7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10874-F393-FD65-6A12-2C6C6C077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ECB79-8AFF-BFC3-23C4-3D7103B5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39602-2CD8-4B62-30F1-A4F33DCC6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40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A367-2A76-19A3-EF3F-202632FFE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52318-1299-DCCD-FC3E-AABCA9C48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1B3B-C548-AF3B-FE02-FBEDF4B8C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13EF2-2FF1-A62A-929A-92485C111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A16DF-EF69-3A53-3F6A-9D0A7E598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66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72E1C-7C0F-3F77-EF18-8981E66DE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3B9BD-3378-FCED-B918-E450B48F09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01E40-B525-C19A-8485-681E8EA3A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F3240-71A0-8777-5F83-129E28DD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CE93A-29E3-1AB0-4B32-27E2137CD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24F7FE-5E3B-6426-EBB2-6368BE68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67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68553-FDAC-5211-1806-1C1EDCEC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BA16E-BB2C-E438-A58A-075F26129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19104-97AF-9F1E-2CC4-7600BBCC04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A8437-3548-D57D-130D-3CE933E200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F862F-322C-CFCB-83BC-43C1A1EAC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1B31DB-C7D6-E765-4A0E-F5A080D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E6D94D-CCAF-796D-C95F-24788A565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76A6F4-81FE-FEF7-5CE6-BACBDA728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732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C96B9-14FA-B6F3-22CC-FB77B11B0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AE1C4-6BC4-6E67-6D8B-18CA89D8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C9137-7C56-32B2-7ED4-4EC9705F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EED582-0A63-C4F4-BF64-804FE8BA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4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188BB1-9DEC-7142-B8C0-09802BDD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E5415E-86FA-DB67-FD63-EA5647DD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68439-E7F9-EB87-564E-62DC4F6C0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04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544C5-5830-3945-758D-AE91440E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5305-3ABB-303D-2693-9113CCD90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45020-A94E-E3B1-6A6F-0A1B299C5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F66CC-4561-4372-A40D-F2C97A299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76490-C9C0-A3A1-854D-EC59DD41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ABFBB-FE60-ABE5-AA27-497B3A73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880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7E3DD-8941-895D-35AE-C0F81EE6A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88499-075D-8B52-C34C-58F77929C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19E4-608B-9583-A615-649FE227A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60FE35-DC2A-311E-1FAE-F53CFEB9A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4B7A7-03AD-676E-F52F-C665ABFE3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5E638-5A5F-DB2D-DEC9-20E676E2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518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441A-7807-EA96-B61C-AFFC64BC9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0004-5A5A-9B38-C6D2-0D8F5FAA4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5EF95-242A-D432-EBBC-B963A8AE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DFB38-4B94-BC2A-E596-5E806FCD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6A8E2-BD48-2477-326E-9C25E32C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833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BF1BF2-F4DA-FF09-0EA1-5D0A10976E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43D05-6CF6-9ADE-78BA-1A2256C2C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C12BE-CF4D-5DD0-A1CD-E3D43B141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DE0C58-DB6A-79C4-9F07-E06C5566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5E431-112E-8199-9D93-3D478B0AB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38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929"/>
            </a:gs>
            <a:gs pos="100000">
              <a:srgbClr val="132A4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01808-8A9A-C018-66DF-DF4855716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E7C7FD-F06F-14DB-FD7E-A2E6ADDBC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3ABD5-9B21-835A-B028-8BDBD7943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FBFFC-CB9C-40E0-AFF6-8DE3F1C86F4A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8DFCD-CC02-FEB1-F1B3-F402D3CA13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5EDAB-418D-E3EA-18BF-8169E92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519C3-E17B-463C-A8E7-22444D696ABF}" type="slidenum">
              <a:rPr lang="en-IN" smtClean="0"/>
              <a:t>‹#›</a:t>
            </a:fld>
            <a:endParaRPr lang="en-IN"/>
          </a:p>
        </p:txBody>
      </p:sp>
      <p:sp>
        <p:nvSpPr>
          <p:cNvPr id="900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00B4D8"/>
              </a:gs>
              <a:gs pos="50000">
                <a:srgbClr val="0077B6"/>
              </a:gs>
              <a:gs pos="100000">
                <a:srgbClr val="48CAE4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CornerAccent"/>
          <p:cNvSpPr/>
          <p:nvPr/>
        </p:nvSpPr>
        <p:spPr>
          <a:xfrm>
            <a:off x="0" y="0"/>
            <a:ext cx="914400" cy="914400"/>
          </a:xfrm>
          <a:prstGeom prst="rtTriangle">
            <a:avLst/>
          </a:prstGeom>
          <a:solidFill>
            <a:srgbClr val="00B4D8">
              <a:alpha val="20000"/>
            </a:srgbClr>
          </a:solidFill>
          <a:ln w="0"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416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D6E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8D6E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8D6E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C8D6E5"/>
          </a:solidFill>
        </a:defRPr>
      </a:defPPr>
      <a:lvl1pPr marL="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B23CA-27FE-A53E-E7BD-5A4B946CE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1000"/>
            <a:ext cx="9144000" cy="2387600"/>
          </a:xfrm>
        </p:spPr>
        <p:txBody>
          <a:bodyPr/>
          <a:lstStyle/>
          <a:p>
            <a:pPr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AI Coding Agents</a:t>
            </a:r>
          </a:p>
          <a:p>
            <a:pPr algn="ctr">
              <a:buNone/>
            </a:pPr>
            <a:r>
              <a:rPr lang="en-US" sz="2400" dirty="0">
                <a:solidFill>
                  <a:srgbClr val="00B4D8"/>
                </a:solidFill>
              </a:rPr>
              <a:t>Strategic Evaluation for Enterprise Deployment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700234-33D0-B28A-B993-CE1339DA4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4000"/>
            <a:ext cx="9144000" cy="1655762"/>
          </a:xfrm>
        </p:spPr>
        <p:txBody>
          <a:bodyPr/>
          <a:lstStyle/>
          <a:p>
            <a:pPr algn="ctr">
              <a:buNone/>
            </a:pPr>
            <a:r>
              <a:rPr lang="en-US" sz="1600" dirty="0">
                <a:solidFill>
                  <a:srgbClr val="C8D6E5"/>
                </a:solidFill>
              </a:rPr>
              <a:t>Codemate  |  Roo Code  |  Claude Code + GLM 4.7</a:t>
            </a:r>
          </a:p>
          <a:p>
            <a:pPr algn="ctr">
              <a:buNone/>
            </a:pPr>
            <a:r>
              <a:rPr lang="en-US" sz="1400" dirty="0">
                <a:solidFill>
                  <a:srgbClr val="90A4AE"/>
                </a:solidFill>
              </a:rPr>
              <a:t>Leadership Briefing  |  April 2026</a:t>
            </a:r>
          </a:p>
        </p:txBody>
      </p:sp>
    </p:spTree>
    <p:extLst>
      <p:ext uri="{BB962C8B-B14F-4D97-AF65-F5344CB8AC3E}">
        <p14:creationId xmlns:p14="http://schemas.microsoft.com/office/powerpoint/2010/main" val="217385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8605B-09EC-F87F-B9A6-2E0165F9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Why AI Coding Agents Now?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18746-F5CD-3897-38EC-8730D5B47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The Shift Is Happening</a:t>
            </a:r>
          </a:p>
          <a:p>
            <a:pPr marL="457200" indent="-457200">
              <a:buFont typeface="Arial"/>
              <a:buChar char="▸"/>
            </a:pPr>
            <a:r>
              <a:rPr lang="en-US" sz="1600" dirty="0">
                <a:solidFill>
                  <a:srgbClr val="C8D6E5"/>
                </a:solidFill>
              </a:rPr>
              <a:t>Developers using AI agents report </a:t>
            </a:r>
            <a:r>
              <a:rPr lang="en-US" sz="1600" b="1" dirty="0">
                <a:solidFill>
                  <a:srgbClr val="FFFFFF"/>
                </a:solidFill>
              </a:rPr>
              <a:t>31%+ productivity increase</a:t>
            </a:r>
          </a:p>
          <a:p>
            <a:pPr marL="457200" indent="-457200">
              <a:buFont typeface="Arial"/>
              <a:buChar char="▸"/>
            </a:pPr>
            <a:r>
              <a:rPr lang="en-US" sz="1600" dirty="0">
                <a:solidFill>
                  <a:srgbClr val="C8D6E5"/>
                </a:solidFill>
              </a:rPr>
              <a:t>Organizations see </a:t>
            </a:r>
            <a:r>
              <a:rPr lang="en-US" sz="1600" b="1" dirty="0">
                <a:solidFill>
                  <a:srgbClr val="FFFFFF"/>
                </a:solidFill>
              </a:rPr>
              <a:t>2.5–3.5x ROI</a:t>
            </a:r>
            <a:r>
              <a:rPr lang="en-US" sz="1600" dirty="0">
                <a:solidFill>
                  <a:srgbClr val="C8D6E5"/>
                </a:solidFill>
              </a:rPr>
              <a:t> on coding agent adoption</a:t>
            </a:r>
          </a:p>
          <a:p>
            <a:pPr marL="457200" indent="-457200">
              <a:buFont typeface="Arial"/>
              <a:buChar char="▸"/>
            </a:pPr>
            <a:r>
              <a:rPr lang="en-US" sz="1600" dirty="0">
                <a:solidFill>
                  <a:srgbClr val="C8D6E5"/>
                </a:solidFill>
              </a:rPr>
              <a:t>AI agents now </a:t>
            </a:r>
            <a:r>
              <a:rPr lang="en-US" sz="1600" b="1" dirty="0">
                <a:solidFill>
                  <a:srgbClr val="FFFFFF"/>
                </a:solidFill>
              </a:rPr>
              <a:t>plan, edit, test, and commit</a:t>
            </a:r>
            <a:r>
              <a:rPr lang="en-US" sz="1600" dirty="0">
                <a:solidFill>
                  <a:srgbClr val="C8D6E5"/>
                </a:solidFill>
              </a:rPr>
              <a:t> code end-to-end</a:t>
            </a:r>
          </a:p>
          <a:p>
            <a:pPr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Why It Matters for Us</a:t>
            </a:r>
          </a:p>
          <a:p>
            <a:pPr marL="457200" indent="-457200">
              <a:buFont typeface="Arial"/>
              <a:buChar char="▸"/>
            </a:pPr>
            <a:r>
              <a:rPr lang="en-US" sz="1600" dirty="0">
                <a:solidFill>
                  <a:srgbClr val="C8D6E5"/>
                </a:solidFill>
              </a:rPr>
              <a:t>Teams not using AI agents ship at </a:t>
            </a:r>
            <a:r>
              <a:rPr lang="en-US" sz="1600" b="1" dirty="0">
                <a:solidFill>
                  <a:srgbClr val="FF6B6B"/>
                </a:solidFill>
              </a:rPr>
              <a:t>half the speed</a:t>
            </a:r>
            <a:r>
              <a:rPr lang="en-US" sz="1600" dirty="0">
                <a:solidFill>
                  <a:srgbClr val="C8D6E5"/>
                </a:solidFill>
              </a:rPr>
              <a:t> of those who have</a:t>
            </a:r>
          </a:p>
          <a:p>
            <a:pPr marL="457200" indent="-457200">
              <a:buFont typeface="Arial"/>
              <a:buChar char="▸"/>
            </a:pPr>
            <a:r>
              <a:rPr lang="en-US" sz="1600" dirty="0">
                <a:solidFill>
                  <a:srgbClr val="C8D6E5"/>
                </a:solidFill>
              </a:rPr>
              <a:t>EU AI Act 2026 enforcement affects deployment in regulated industries</a:t>
            </a:r>
          </a:p>
          <a:p>
            <a:pPr marL="457200" indent="-457200">
              <a:buFont typeface="Arial"/>
              <a:buChar char="▸"/>
            </a:pPr>
            <a:r>
              <a:rPr lang="en-US" sz="1600" dirty="0">
                <a:solidFill>
                  <a:srgbClr val="C8D6E5"/>
                </a:solidFill>
              </a:rPr>
              <a:t>Early adopters gain a </a:t>
            </a:r>
            <a:r>
              <a:rPr lang="en-US" sz="1600" b="1" dirty="0">
                <a:solidFill>
                  <a:srgbClr val="2ECC71"/>
                </a:solidFill>
              </a:rPr>
              <a:t>compounding competitive advantage</a:t>
            </a:r>
          </a:p>
        </p:txBody>
      </p:sp>
    </p:spTree>
    <p:extLst>
      <p:ext uri="{BB962C8B-B14F-4D97-AF65-F5344CB8AC3E}">
        <p14:creationId xmlns:p14="http://schemas.microsoft.com/office/powerpoint/2010/main" val="1815407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BBB-632E-2950-AE35-0765C6DBD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/>
              <a:t>Candidates at a Glance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0CC905-17E0-44A8-AAAD-82E9A47A3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391555"/>
              </p:ext>
            </p:extLst>
          </p:nvPr>
        </p:nvGraphicFramePr>
        <p:xfrm>
          <a:off x="609600" y="1778000"/>
          <a:ext cx="10972800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011255955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740060162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3793357795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591140428"/>
                    </a:ext>
                  </a:extLst>
                </a:gridCol>
              </a:tblGrid>
              <a:tr h="1079500"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Codemate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Roo Code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</a:rPr>
                        <a:t>Claude Code + GLM 4.7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44514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IDE Plugin (VS Code)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Open-Source VS Code Extension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Terminal-native Agentic System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192823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Proprietary AI engine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Model-agnostic (any LLM)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Claude Opus/Sonnet + GLM 4.7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813856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Best For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Code review, debugging, Swagger API gen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Multi-mode agentic workflows, customization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C8D6E5"/>
                          </a:solidFill>
                        </a:rPr>
                        <a:t>End-to-end autonomous development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3645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760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170BE-558F-7396-226E-F24B3EBF3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/>
              <a:t>Codemate — Deep Dive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C9988-7177-624B-D264-B1B4DA944A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00B4D8"/>
                </a:solidFill>
              </a:rPr>
              <a:t>Key Capabilities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AI-powered code review, debug &amp; optimization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Swagger Agent: OpenAPI → backend code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Automated test case generation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PR Review Agent (GitHub/GitLab/Bitbucket/Azure)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On-device AI option for data privacy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100+ programming languages supported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C9FC6-B9ED-021E-FC35-305CA6E2B3F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ECC71"/>
                </a:solidFill>
              </a:rPr>
              <a:t>✔ Strengths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Strong code review with detailed reports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On-device processing protects IP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Deep codebase understanding</a:t>
            </a:r>
          </a:p>
          <a:p>
            <a:pPr>
              <a:buNone/>
            </a:pPr>
            <a:r>
              <a:rPr lang="en-US" sz="1800" b="1" dirty="0">
                <a:solidFill>
                  <a:srgbClr val="FF6B6B"/>
                </a:solidFill>
              </a:rPr>
              <a:t>✘ Limitations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Primarily VS Code only; limited IDE reach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Smaller community vs. major competitors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Not agentic — no autonomous task execution</a:t>
            </a:r>
          </a:p>
        </p:txBody>
      </p:sp>
    </p:spTree>
    <p:extLst>
      <p:ext uri="{BB962C8B-B14F-4D97-AF65-F5344CB8AC3E}">
        <p14:creationId xmlns:p14="http://schemas.microsoft.com/office/powerpoint/2010/main" val="100942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D7A28-3BCD-4DF7-FF4A-05E91240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/>
              <a:t>Roo Code — Deep Dive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1A83-EE74-23D4-E8B5-B0A0747BB2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00B4D8"/>
                </a:solidFill>
              </a:rPr>
              <a:t>Key Capabilities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Multi-mode agents: Code, Architect, Debug, Review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Model-agnostic: use any LLM (OpenAI, Anthropic, local)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Custom Modes with scoped tool permissions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MCP support, terminal execution, browser actions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Open-source (Apache 2.0), 22K+ GitHub stars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SOC 2 compliant; enterprise-ready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46F55-3840-1830-7617-689B90C2D1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2ECC71"/>
                </a:solidFill>
              </a:rPr>
              <a:t>✔ Strengths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Zero vendor lock-in; bring your own API key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Deep customization via role-based modes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Code never leaves machine with local models</a:t>
            </a:r>
          </a:p>
          <a:p>
            <a:pPr>
              <a:buNone/>
            </a:pPr>
            <a:r>
              <a:rPr lang="en-US" sz="1800" b="1" dirty="0">
                <a:solidFill>
                  <a:srgbClr val="FF6B6B"/>
                </a:solidFill>
              </a:rPr>
              <a:t>✘ Limitations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VS Code only; no JetBrains native support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API costs can be unpredictable at scale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Approval fatigue without tuned auto-approve settings</a:t>
            </a:r>
          </a:p>
        </p:txBody>
      </p:sp>
    </p:spTree>
    <p:extLst>
      <p:ext uri="{BB962C8B-B14F-4D97-AF65-F5344CB8AC3E}">
        <p14:creationId xmlns:p14="http://schemas.microsoft.com/office/powerpoint/2010/main" val="1649908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B337D-3617-810B-FFA4-44C28B3C4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/>
              <a:t>Claude Code + GLM 4.7 — Deep Dive</a:t>
            </a:r>
            <a:endParaRPr lang="en-IN" sz="2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A0F9F-96A4-E65B-81CE-2AE0F2B732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Claude Code (Anthropic)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Full agentic system: reads codebase, edits files, runs tests, submits PRs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Opus 4.7 leads SWE-bench at ~80.8%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Multi-agent parallelism: lead agent + subtasks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Terminal, VS Code, JetBrains, Desktop, Browser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Enterprise via AWS Bedrock / Google Vertex AI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CLAUDE.md for team coding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55903-0C5B-BFDE-3806-A75884B0FC4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GLM 4.7 (Z.AI — Open-Weight)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#1 open-source on Code Arena, beats GPT-5.2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73.8% SWE-bench | 84.9% LiveCodeBench-v6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Interleaved + Preserved + Turn-level Thinking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200K context window, open-weight (self-host)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$0.60/$2.20 per 1M tokens — 4–7x cheaper</a:t>
            </a:r>
          </a:p>
          <a:p>
            <a:pPr marL="228600" indent="-2286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Native in Claude Code, Roo Code, Cline, TRAE</a:t>
            </a:r>
          </a:p>
        </p:txBody>
      </p:sp>
    </p:spTree>
    <p:extLst>
      <p:ext uri="{BB962C8B-B14F-4D97-AF65-F5344CB8AC3E}">
        <p14:creationId xmlns:p14="http://schemas.microsoft.com/office/powerpoint/2010/main" val="2374377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4958C-3D6D-16D0-5598-2FD8288A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/>
              <a:t>Head-to-Head Comparison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6336D7-4CE1-4DDE-A4FB-9021EC5B5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556223"/>
              </p:ext>
            </p:extLst>
          </p:nvPr>
        </p:nvGraphicFramePr>
        <p:xfrm>
          <a:off x="457200" y="1778000"/>
          <a:ext cx="11277600" cy="4508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>
                  <a:extLst>
                    <a:ext uri="{9D8B030D-6E8A-4147-A177-3AD203B41FA5}">
                      <a16:colId xmlns:a16="http://schemas.microsoft.com/office/drawing/2014/main" val="3824244618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3681759108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2968410258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847968484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Codemate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Roo Code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FFFFFF"/>
                          </a:solidFill>
                        </a:rPr>
                        <a:t>Claude Code + GLM 4.7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335337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Code Quality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Strong review reports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Model-dependent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Opus 4.7 #1 SWE-bench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929976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Security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On-device option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Local models possible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Enterprise Bedrock/Vertex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2783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Productivity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80% faster claims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Multi-mode workflows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End-to-end autonomous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38666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IDE Support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VS Code only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VS Code only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Terminal + VS Code + JetBrains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857427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Model Lock-in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Proprietary engine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Fully model-agnostic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Anthropic + open-weight GLM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910127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Pricing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Subscription tiers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Free + BYOK API costs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$20-$150/seat/mo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59226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0B4D8"/>
                          </a:solidFill>
                        </a:rPr>
                        <a:t>Maturity</a:t>
                      </a:r>
                    </a:p>
                  </a:txBody>
                  <a:tcPr anchor="ctr">
                    <a:solidFill>
                      <a:srgbClr val="13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Startup (India-based)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OSS, 22K+ stars, SOC 2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solidFill>
                            <a:srgbClr val="C8D6E5"/>
                          </a:solidFill>
                        </a:rPr>
                        <a:t>Anthropic-backed, surpassed Copilot</a:t>
                      </a:r>
                    </a:p>
                  </a:txBody>
                  <a:tcPr anchor="ctr">
                    <a:solidFill>
                      <a:srgbClr val="0B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010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44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DA828-CA95-3133-EFA8-FFF7223F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/>
              <a:t>Recommendation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D09CB-EA5C-9FB0-0965-5FC4AF648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b="1" dirty="0">
                <a:solidFill>
                  <a:srgbClr val="2ECC71"/>
                </a:solidFill>
              </a:rPr>
              <a:t>✔  Primary: Claude Code + GLM 4.7</a:t>
            </a:r>
          </a:p>
          <a:p>
            <a:pPr marL="457200" indent="-457200">
              <a:buFont typeface="Arial"/>
              <a:buChar char="▸"/>
            </a:pPr>
            <a:r>
              <a:rPr lang="en-US" sz="1500" dirty="0">
                <a:solidFill>
                  <a:srgbClr val="C8D6E5"/>
                </a:solidFill>
              </a:rPr>
              <a:t>Best-in-class benchmarks, end-to-end autonomy, enterprise-grade security</a:t>
            </a:r>
          </a:p>
          <a:p>
            <a:pPr marL="457200" indent="-457200">
              <a:buFont typeface="Arial"/>
              <a:buChar char="▸"/>
            </a:pPr>
            <a:r>
              <a:rPr lang="en-US" sz="1500" dirty="0">
                <a:solidFill>
                  <a:srgbClr val="C8D6E5"/>
                </a:solidFill>
              </a:rPr>
              <a:t>GLM 4.7 as cost-effective open-weight alternative for high-volume tasks</a:t>
            </a:r>
          </a:p>
          <a:p>
            <a:pPr algn="l">
              <a:buNone/>
            </a:pPr>
            <a:r>
              <a:rPr lang="en-US" sz="1800" b="1" dirty="0">
                <a:solidFill>
                  <a:srgbClr val="00B4D8"/>
                </a:solidFill>
              </a:rPr>
              <a:t>Proposed Next Steps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500" dirty="0">
                <a:solidFill>
                  <a:srgbClr val="C8D6E5"/>
                </a:solidFill>
              </a:rPr>
              <a:t>Pilot with 2 engineering squads (4 weeks) — Claude Code on complex features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500" dirty="0">
                <a:solidFill>
                  <a:srgbClr val="C8D6E5"/>
                </a:solidFill>
              </a:rPr>
              <a:t>Parallel test of GLM 4.7 for routine tasks — measure cost vs. quality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500" dirty="0">
                <a:solidFill>
                  <a:srgbClr val="C8D6E5"/>
                </a:solidFill>
              </a:rPr>
              <a:t>Establish guardrails: code review policy, security scan integration</a:t>
            </a:r>
          </a:p>
          <a:p>
            <a:pPr marL="457200" indent="-457200">
              <a:buFont typeface="Arial"/>
              <a:buAutoNum type="arabicPeriod"/>
            </a:pPr>
            <a:r>
              <a:rPr lang="en-US" sz="1500" dirty="0">
                <a:solidFill>
                  <a:srgbClr val="C8D6E5"/>
                </a:solidFill>
              </a:rPr>
              <a:t>Present findings to full engineering leadership in 6 weeks</a:t>
            </a:r>
          </a:p>
        </p:txBody>
      </p:sp>
    </p:spTree>
    <p:extLst>
      <p:ext uri="{BB962C8B-B14F-4D97-AF65-F5344CB8AC3E}">
        <p14:creationId xmlns:p14="http://schemas.microsoft.com/office/powerpoint/2010/main" val="1418125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4F03-0BD5-526A-2C49-B49C5983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Demo: Claude Code — Key Features</a:t>
            </a:r>
            <a:endParaRPr lang="en-IN" sz="2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77047-E6FF-1B21-2432-3044B555D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Agentic Workflow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Describe a bug or feature → Claude reads codebase, plans approach, edits across files, runs tests, submits PR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When tests fail, it reads errors, fixes code, and re-runs automatically until passing</a:t>
            </a:r>
          </a:p>
          <a:p>
            <a:pPr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Multi-Agent Parallelism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Spawn multiple agents working on different subtasks simultaneously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Lead agent coordinates, assigns tasks, and merges results</a:t>
            </a:r>
          </a:p>
          <a:p>
            <a:pPr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Team Integration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CLAUDE.md for coding standards | Custom commands (/review-pr, /deploy-staging)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MCP connectors: Jira, Slack, Google Drive, GitHub — unified workflow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Hooks: auto-format after edits, lint before commits</a:t>
            </a:r>
          </a:p>
        </p:txBody>
      </p:sp>
    </p:spTree>
    <p:extLst>
      <p:ext uri="{BB962C8B-B14F-4D97-AF65-F5344CB8AC3E}">
        <p14:creationId xmlns:p14="http://schemas.microsoft.com/office/powerpoint/2010/main" val="2287248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A3401-B64F-0E16-5191-EB32EDC9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/>
              <a:t>Demo: GLM 4.7 — Key Features</a:t>
            </a:r>
            <a:endParaRPr lang="en-IN" sz="28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760EE-59CD-DEFD-9208-F7EF04429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Interleaved Thinking System</a:t>
            </a:r>
          </a:p>
          <a:p>
            <a:pPr marL="457200" indent="-457200"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</a:rPr>
              <a:t>Interleaved: </a:t>
            </a:r>
            <a:r>
              <a:rPr lang="en-US" sz="1400" dirty="0">
                <a:solidFill>
                  <a:srgbClr val="C8D6E5"/>
                </a:solidFill>
              </a:rPr>
              <a:t>Thinks before every response and tool call for better instruction following</a:t>
            </a:r>
          </a:p>
          <a:p>
            <a:pPr marL="457200" indent="-457200"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</a:rPr>
              <a:t>Preserved: </a:t>
            </a:r>
            <a:r>
              <a:rPr lang="en-US" sz="1400" dirty="0">
                <a:solidFill>
                  <a:srgbClr val="C8D6E5"/>
                </a:solidFill>
              </a:rPr>
              <a:t>Retains reasoning across multi-turn conversations — no re-derivation</a:t>
            </a:r>
          </a:p>
          <a:p>
            <a:pPr marL="457200" indent="-457200">
              <a:buFont typeface="Arial"/>
              <a:buChar char="▸"/>
            </a:pPr>
            <a:r>
              <a:rPr lang="en-US" sz="1400" b="1" dirty="0">
                <a:solidFill>
                  <a:srgbClr val="FFFFFF"/>
                </a:solidFill>
              </a:rPr>
              <a:t>Turn-level: </a:t>
            </a:r>
            <a:r>
              <a:rPr lang="en-US" sz="1400" dirty="0">
                <a:solidFill>
                  <a:srgbClr val="C8D6E5"/>
                </a:solidFill>
              </a:rPr>
              <a:t>Toggle reasoning on/off per request for cost vs. accuracy control</a:t>
            </a:r>
          </a:p>
          <a:p>
            <a:pPr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Benchmark Highlights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73.8% SWE-bench Verified  |  84.9% LiveCodeBench-v6  |  41% Terminal Bench 2.0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#1 open-source on Code Arena — outperforms GPT-5.2</a:t>
            </a:r>
          </a:p>
          <a:p>
            <a:pPr algn="l">
              <a:buNone/>
            </a:pPr>
            <a:r>
              <a:rPr lang="en-US" sz="1600" b="1" dirty="0">
                <a:solidFill>
                  <a:srgbClr val="00B4D8"/>
                </a:solidFill>
              </a:rPr>
              <a:t>Enterprise Value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Open-weight: self-host for full data control  |  200K context window</a:t>
            </a:r>
          </a:p>
          <a:p>
            <a:pPr marL="457200" indent="-457200">
              <a:buFont typeface="Arial"/>
              <a:buChar char="▸"/>
            </a:pPr>
            <a:r>
              <a:rPr lang="en-US" sz="1400" dirty="0">
                <a:solidFill>
                  <a:srgbClr val="C8D6E5"/>
                </a:solidFill>
              </a:rPr>
              <a:t>$0.60/1M input — 4–7x cheaper than proprietary alternatives</a:t>
            </a:r>
          </a:p>
        </p:txBody>
      </p:sp>
    </p:spTree>
    <p:extLst>
      <p:ext uri="{BB962C8B-B14F-4D97-AF65-F5344CB8AC3E}">
        <p14:creationId xmlns:p14="http://schemas.microsoft.com/office/powerpoint/2010/main" val="2332170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457200" y="254000"/>
            <a:ext cx="11277600" cy="6604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2400" b="1" dirty="0">
                <a:solidFill>
                  <a:srgbClr val="FFFFFF"/>
                </a:solidFill>
              </a:rPr>
              <a:t>How It Works: VS Code Environment Architecture</a:t>
            </a:r>
          </a:p>
        </p:txBody>
      </p:sp>
      <p:sp>
        <p:nvSpPr>
          <p:cNvPr id="101" name="Shape101"/>
          <p:cNvSpPr/>
          <p:nvPr/>
        </p:nvSpPr>
        <p:spPr>
          <a:xfrm>
            <a:off x="457200" y="914400"/>
            <a:ext cx="11277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90A4AE"/>
                </a:solidFill>
              </a:rPr>
              <a:t>Developer’s local machine — all code stays on-device unless sent to model API</a:t>
            </a:r>
          </a:p>
        </p:txBody>
      </p:sp>
      <p:sp>
        <p:nvSpPr>
          <p:cNvPr id="102" name="Shape102"/>
          <p:cNvSpPr/>
          <p:nvPr/>
        </p:nvSpPr>
        <p:spPr>
          <a:xfrm>
            <a:off x="457200" y="1498600"/>
            <a:ext cx="3048000" cy="4191000"/>
          </a:xfrm>
          <a:prstGeom prst="roundRect">
            <a:avLst/>
          </a:prstGeom>
          <a:solidFill>
            <a:srgbClr val="132A43"/>
          </a:solidFill>
          <a:ln w="19050">
            <a:solidFill>
              <a:srgbClr val="00B4D8"/>
            </a:solidFill>
          </a:ln>
        </p:spPr>
        <p:txBody>
          <a:bodyPr wrap="square" lIns="36000" tIns="18000" rIns="36000" bIns="18000" anchor="t"/>
          <a:lstStyle/>
          <a:p>
            <a:pPr algn="ctr"/>
            <a:endParaRPr/>
          </a:p>
        </p:txBody>
      </p:sp>
      <p:sp>
        <p:nvSpPr>
          <p:cNvPr id="103" name="Shape103"/>
          <p:cNvSpPr/>
          <p:nvPr/>
        </p:nvSpPr>
        <p:spPr>
          <a:xfrm>
            <a:off x="584200" y="1600200"/>
            <a:ext cx="2794000" cy="406400"/>
          </a:xfrm>
          <a:prstGeom prst="rect">
            <a:avLst/>
          </a:prstGeom>
          <a:solidFill>
            <a:srgbClr val="005F73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YOUR PROJECT FILES</a:t>
            </a:r>
          </a:p>
        </p:txBody>
      </p:sp>
      <p:sp>
        <p:nvSpPr>
          <p:cNvPr id="104" name="Shape104"/>
          <p:cNvSpPr/>
          <p:nvPr/>
        </p:nvSpPr>
        <p:spPr>
          <a:xfrm>
            <a:off x="660400" y="2133600"/>
            <a:ext cx="26416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C8D6E5"/>
                </a:solidFill>
              </a:rPr>
              <a:t>src/</a:t>
            </a:r>
          </a:p>
        </p:txBody>
      </p:sp>
      <p:sp>
        <p:nvSpPr>
          <p:cNvPr id="105" name="Shape105"/>
          <p:cNvSpPr/>
          <p:nvPr/>
        </p:nvSpPr>
        <p:spPr>
          <a:xfrm>
            <a:off x="660400" y="2819400"/>
            <a:ext cx="26416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C8D6E5"/>
                </a:solidFill>
              </a:rPr>
              <a:t>tests/</a:t>
            </a:r>
          </a:p>
        </p:txBody>
      </p:sp>
      <p:sp>
        <p:nvSpPr>
          <p:cNvPr id="106" name="Shape106"/>
          <p:cNvSpPr/>
          <p:nvPr/>
        </p:nvSpPr>
        <p:spPr>
          <a:xfrm>
            <a:off x="660400" y="3505200"/>
            <a:ext cx="26416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C8D6E5"/>
                </a:solidFill>
              </a:rPr>
              <a:t>package.json</a:t>
            </a:r>
          </a:p>
        </p:txBody>
      </p:sp>
      <p:sp>
        <p:nvSpPr>
          <p:cNvPr id="107" name="Shape107"/>
          <p:cNvSpPr/>
          <p:nvPr/>
        </p:nvSpPr>
        <p:spPr>
          <a:xfrm>
            <a:off x="660400" y="4191000"/>
            <a:ext cx="26416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C8D6E5"/>
                </a:solidFill>
              </a:rPr>
              <a:t>CLAUDE.md</a:t>
            </a:r>
          </a:p>
        </p:txBody>
      </p:sp>
      <p:sp>
        <p:nvSpPr>
          <p:cNvPr id="108" name="Shape108"/>
          <p:cNvSpPr/>
          <p:nvPr/>
        </p:nvSpPr>
        <p:spPr>
          <a:xfrm>
            <a:off x="660400" y="4876800"/>
            <a:ext cx="26416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C8D6E5"/>
                </a:solidFill>
              </a:rPr>
              <a:t>.git/</a:t>
            </a:r>
          </a:p>
        </p:txBody>
      </p:sp>
      <p:sp>
        <p:nvSpPr>
          <p:cNvPr id="109" name="Shape109"/>
          <p:cNvSpPr/>
          <p:nvPr/>
        </p:nvSpPr>
        <p:spPr>
          <a:xfrm>
            <a:off x="3937000" y="1498600"/>
            <a:ext cx="3683000" cy="4191000"/>
          </a:xfrm>
          <a:prstGeom prst="roundRect">
            <a:avLst/>
          </a:prstGeom>
          <a:solidFill>
            <a:srgbClr val="132A43"/>
          </a:solidFill>
          <a:ln w="19050">
            <a:solidFill>
              <a:srgbClr val="0077B6"/>
            </a:solidFill>
          </a:ln>
        </p:spPr>
        <p:txBody>
          <a:bodyPr wrap="square" lIns="36000" tIns="18000" rIns="36000" bIns="18000" anchor="t"/>
          <a:lstStyle/>
          <a:p>
            <a:pPr algn="ctr"/>
            <a:endParaRPr/>
          </a:p>
        </p:txBody>
      </p:sp>
      <p:sp>
        <p:nvSpPr>
          <p:cNvPr id="110" name="Shape110"/>
          <p:cNvSpPr/>
          <p:nvPr/>
        </p:nvSpPr>
        <p:spPr>
          <a:xfrm>
            <a:off x="4064000" y="1600200"/>
            <a:ext cx="3429000" cy="406400"/>
          </a:xfrm>
          <a:prstGeom prst="rect">
            <a:avLst/>
          </a:prstGeom>
          <a:solidFill>
            <a:srgbClr val="0077B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VS CODE + CLAUDE CODE</a:t>
            </a:r>
          </a:p>
        </p:txBody>
      </p:sp>
      <p:sp>
        <p:nvSpPr>
          <p:cNvPr id="111" name="Shape111"/>
          <p:cNvSpPr/>
          <p:nvPr/>
        </p:nvSpPr>
        <p:spPr>
          <a:xfrm>
            <a:off x="4089400" y="2133600"/>
            <a:ext cx="33782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00B4D8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Claude Code Extension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Agent UI &amp; chat panel</a:t>
            </a:r>
          </a:p>
        </p:txBody>
      </p:sp>
      <p:sp>
        <p:nvSpPr>
          <p:cNvPr id="112" name="Shape112"/>
          <p:cNvSpPr/>
          <p:nvPr/>
        </p:nvSpPr>
        <p:spPr>
          <a:xfrm>
            <a:off x="4089400" y="2819400"/>
            <a:ext cx="33782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Terminal Integration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CLI commands &amp; output</a:t>
            </a:r>
          </a:p>
        </p:txBody>
      </p:sp>
      <p:sp>
        <p:nvSpPr>
          <p:cNvPr id="113" name="Shape113"/>
          <p:cNvSpPr/>
          <p:nvPr/>
        </p:nvSpPr>
        <p:spPr>
          <a:xfrm>
            <a:off x="4089400" y="3505200"/>
            <a:ext cx="33782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File Watcher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Real-time code context</a:t>
            </a:r>
          </a:p>
        </p:txBody>
      </p:sp>
      <p:sp>
        <p:nvSpPr>
          <p:cNvPr id="114" name="Shape114"/>
          <p:cNvSpPr/>
          <p:nvPr/>
        </p:nvSpPr>
        <p:spPr>
          <a:xfrm>
            <a:off x="4089400" y="4191000"/>
            <a:ext cx="33782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MCP Servers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GitHub, Jira, Slack...</a:t>
            </a:r>
          </a:p>
        </p:txBody>
      </p:sp>
      <p:sp>
        <p:nvSpPr>
          <p:cNvPr id="115" name="Shape115"/>
          <p:cNvSpPr/>
          <p:nvPr/>
        </p:nvSpPr>
        <p:spPr>
          <a:xfrm>
            <a:off x="4089400" y="4876800"/>
            <a:ext cx="3378200" cy="5588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2ECC71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Permission Layer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Human approval gate</a:t>
            </a:r>
          </a:p>
        </p:txBody>
      </p:sp>
      <p:sp>
        <p:nvSpPr>
          <p:cNvPr id="116" name="Shape116"/>
          <p:cNvSpPr/>
          <p:nvPr/>
        </p:nvSpPr>
        <p:spPr>
          <a:xfrm>
            <a:off x="8077200" y="1498600"/>
            <a:ext cx="3619500" cy="4191000"/>
          </a:xfrm>
          <a:prstGeom prst="roundRect">
            <a:avLst/>
          </a:prstGeom>
          <a:solidFill>
            <a:srgbClr val="132A43"/>
          </a:solidFill>
          <a:ln w="19050">
            <a:solidFill>
              <a:srgbClr val="FF6B6B"/>
            </a:solidFill>
          </a:ln>
        </p:spPr>
        <p:txBody>
          <a:bodyPr wrap="square" lIns="36000" tIns="18000" rIns="36000" bIns="18000" anchor="t"/>
          <a:lstStyle/>
          <a:p>
            <a:pPr algn="ctr"/>
            <a:endParaRPr/>
          </a:p>
        </p:txBody>
      </p:sp>
      <p:sp>
        <p:nvSpPr>
          <p:cNvPr id="117" name="Shape117"/>
          <p:cNvSpPr/>
          <p:nvPr/>
        </p:nvSpPr>
        <p:spPr>
          <a:xfrm>
            <a:off x="8204200" y="1600200"/>
            <a:ext cx="3365500" cy="406400"/>
          </a:xfrm>
          <a:prstGeom prst="rect">
            <a:avLst/>
          </a:prstGeom>
          <a:solidFill>
            <a:srgbClr val="8B2020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MODEL API (CLOUD)</a:t>
            </a:r>
          </a:p>
        </p:txBody>
      </p:sp>
      <p:sp>
        <p:nvSpPr>
          <p:cNvPr id="118" name="Shape118"/>
          <p:cNvSpPr/>
          <p:nvPr/>
        </p:nvSpPr>
        <p:spPr>
          <a:xfrm>
            <a:off x="8229600" y="2133600"/>
            <a:ext cx="3314700" cy="10160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FF6B6B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GLM 4.7 (Primary)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Open-weight, $0.60/M tokens
73.8% SWE-bench</a:t>
            </a:r>
          </a:p>
        </p:txBody>
      </p:sp>
      <p:sp>
        <p:nvSpPr>
          <p:cNvPr id="119" name="Shape119"/>
          <p:cNvSpPr/>
          <p:nvPr/>
        </p:nvSpPr>
        <p:spPr>
          <a:xfrm>
            <a:off x="8229600" y="3276600"/>
            <a:ext cx="3314700" cy="10160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0077B6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Claude Sonnet 4.6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Anthropic hosted
Balanced speed &amp; quality</a:t>
            </a:r>
          </a:p>
        </p:txBody>
      </p:sp>
      <p:sp>
        <p:nvSpPr>
          <p:cNvPr id="120" name="Shape120"/>
          <p:cNvSpPr/>
          <p:nvPr/>
        </p:nvSpPr>
        <p:spPr>
          <a:xfrm>
            <a:off x="8229600" y="4419600"/>
            <a:ext cx="3314700" cy="10160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0077B6"/>
            </a:solidFill>
          </a:ln>
        </p:spPr>
        <p:txBody>
          <a:bodyPr wrap="square" lIns="54000" tIns="36000" rIns="54000" bIns="3600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</a:rPr>
              <a:t>Claude Opus 4.7</a:t>
            </a:r>
          </a:p>
          <a:p>
            <a:pPr algn="l"/>
            <a:r>
              <a:rPr lang="en-US" sz="900" dirty="0">
                <a:solidFill>
                  <a:srgbClr val="90A4AE"/>
                </a:solidFill>
              </a:rPr>
              <a:t>Max intelligence
Complex architecture tasks</a:t>
            </a:r>
          </a:p>
        </p:txBody>
      </p:sp>
      <p:cxnSp>
        <p:nvCxnSpPr>
          <p:cNvPr id="121" name="Arrow121"/>
          <p:cNvCxnSpPr/>
          <p:nvPr/>
        </p:nvCxnSpPr>
        <p:spPr>
          <a:xfrm>
            <a:off x="3505200" y="2768600"/>
            <a:ext cx="431800" cy="1"/>
          </a:xfrm>
          <a:prstGeom prst="line">
            <a:avLst/>
          </a:prstGeom>
          <a:ln w="19050">
            <a:solidFill>
              <a:srgbClr val="00B4D8"/>
            </a:solidFill>
            <a:tailEnd type="triangle" w="med" len="med"/>
          </a:ln>
        </p:spPr>
      </p:cxnSp>
      <p:cxnSp>
        <p:nvCxnSpPr>
          <p:cNvPr id="122" name="Arrow122"/>
          <p:cNvCxnSpPr/>
          <p:nvPr/>
        </p:nvCxnSpPr>
        <p:spPr>
          <a:xfrm>
            <a:off x="3505200" y="4038600"/>
            <a:ext cx="431800" cy="1"/>
          </a:xfrm>
          <a:prstGeom prst="line">
            <a:avLst/>
          </a:prstGeom>
          <a:ln w="12700">
            <a:solidFill>
              <a:srgbClr val="48CAE4"/>
            </a:solidFill>
            <a:tailEnd type="triangle" w="med" len="med"/>
          </a:ln>
        </p:spPr>
      </p:cxnSp>
      <p:cxnSp>
        <p:nvCxnSpPr>
          <p:cNvPr id="123" name="Arrow123"/>
          <p:cNvCxnSpPr/>
          <p:nvPr/>
        </p:nvCxnSpPr>
        <p:spPr>
          <a:xfrm>
            <a:off x="7620000" y="2768600"/>
            <a:ext cx="457200" cy="1"/>
          </a:xfrm>
          <a:prstGeom prst="line">
            <a:avLst/>
          </a:prstGeom>
          <a:ln w="19050">
            <a:solidFill>
              <a:srgbClr val="FF6B6B"/>
            </a:solidFill>
            <a:tailEnd type="triangle" w="med" len="med"/>
          </a:ln>
        </p:spPr>
      </p:cxnSp>
      <p:cxnSp>
        <p:nvCxnSpPr>
          <p:cNvPr id="124" name="Arrow124"/>
          <p:cNvCxnSpPr/>
          <p:nvPr/>
        </p:nvCxnSpPr>
        <p:spPr>
          <a:xfrm>
            <a:off x="7620000" y="4038600"/>
            <a:ext cx="457200" cy="1"/>
          </a:xfrm>
          <a:prstGeom prst="line">
            <a:avLst/>
          </a:prstGeom>
          <a:ln w="12700">
            <a:solidFill>
              <a:srgbClr val="0077B6"/>
            </a:solidFill>
            <a:tailEnd type="triangle" w="med" len="med"/>
          </a:ln>
        </p:spPr>
      </p:cxnSp>
      <p:sp>
        <p:nvSpPr>
          <p:cNvPr id="129" name="Shape129"/>
          <p:cNvSpPr/>
          <p:nvPr/>
        </p:nvSpPr>
        <p:spPr>
          <a:xfrm>
            <a:off x="457200" y="5867400"/>
            <a:ext cx="11277600" cy="4572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dirty="0">
                <a:solidFill>
                  <a:srgbClr val="90A4AE"/>
                </a:solidFill>
              </a:rPr>
              <a:t>Code stays local  •  Only prompts sent to API  •  Permission required before changes  •  BYOK</a:t>
            </a:r>
          </a:p>
        </p:txBody>
      </p:sp>
    </p:spTree>
    <p:extLst>
      <p:ext uri="{BB962C8B-B14F-4D97-AF65-F5344CB8AC3E}">
        <p14:creationId xmlns:p14="http://schemas.microsoft.com/office/powerpoint/2010/main" val="3703547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200"/>
          <p:cNvSpPr/>
          <p:nvPr/>
        </p:nvSpPr>
        <p:spPr>
          <a:xfrm>
            <a:off x="457200" y="203200"/>
            <a:ext cx="112776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2200" b="1" dirty="0">
                <a:solidFill>
                  <a:srgbClr val="FFFFFF"/>
                </a:solidFill>
              </a:rPr>
              <a:t>Agent Execution Flow: From Prompt to Committed Code</a:t>
            </a:r>
          </a:p>
        </p:txBody>
      </p:sp>
      <p:sp>
        <p:nvSpPr>
          <p:cNvPr id="201" name="S201"/>
          <p:cNvSpPr/>
          <p:nvPr/>
        </p:nvSpPr>
        <p:spPr>
          <a:xfrm>
            <a:off x="457200" y="762000"/>
            <a:ext cx="11277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36000" tIns="18000" rIns="36000" bIns="18000" anchor="ctr"/>
          <a:lstStyle/>
          <a:p>
            <a:pPr algn="l"/>
            <a:r>
              <a:rPr lang="en-US" sz="1400" dirty="0">
                <a:solidFill>
                  <a:srgbClr val="90A4AE"/>
                </a:solidFill>
              </a:rPr>
              <a:t>How Claude Code orchestrates GLM 4.7 through a complete development task</a:t>
            </a:r>
          </a:p>
        </p:txBody>
      </p:sp>
      <p:sp>
        <p:nvSpPr>
          <p:cNvPr id="202" name="S202"/>
          <p:cNvSpPr/>
          <p:nvPr/>
        </p:nvSpPr>
        <p:spPr>
          <a:xfrm>
            <a:off x="533400" y="1270000"/>
            <a:ext cx="406400" cy="4064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3" name="S203"/>
          <p:cNvSpPr/>
          <p:nvPr/>
        </p:nvSpPr>
        <p:spPr>
          <a:xfrm>
            <a:off x="1016000" y="1270000"/>
            <a:ext cx="2819400" cy="1524000"/>
          </a:xfrm>
          <a:prstGeom prst="roundRect">
            <a:avLst/>
          </a:prstGeom>
          <a:solidFill>
            <a:srgbClr val="132A43"/>
          </a:solidFill>
          <a:ln w="15875">
            <a:solidFill>
              <a:srgbClr val="00B4D8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Developer Prompt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"Add OAuth login with Google SSO and write tests"</a:t>
            </a:r>
          </a:p>
        </p:txBody>
      </p:sp>
      <p:sp>
        <p:nvSpPr>
          <p:cNvPr id="204" name="S204"/>
          <p:cNvSpPr/>
          <p:nvPr/>
        </p:nvSpPr>
        <p:spPr>
          <a:xfrm>
            <a:off x="4064000" y="1270000"/>
            <a:ext cx="406400" cy="406400"/>
          </a:xfrm>
          <a:prstGeom prst="ellipse">
            <a:avLst/>
          </a:prstGeom>
          <a:solidFill>
            <a:srgbClr val="0077B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5" name="S205"/>
          <p:cNvSpPr/>
          <p:nvPr/>
        </p:nvSpPr>
        <p:spPr>
          <a:xfrm>
            <a:off x="4546600" y="1270000"/>
            <a:ext cx="2819400" cy="1524000"/>
          </a:xfrm>
          <a:prstGeom prst="roundRect">
            <a:avLst/>
          </a:prstGeom>
          <a:solidFill>
            <a:srgbClr val="132A43"/>
          </a:solidFill>
          <a:ln w="15875">
            <a:solidFill>
              <a:srgbClr val="0077B6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Codebase Analysis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Claude Code reads project structure, CLAUDE.md, dependencies</a:t>
            </a:r>
          </a:p>
        </p:txBody>
      </p:sp>
      <p:sp>
        <p:nvSpPr>
          <p:cNvPr id="206" name="S206"/>
          <p:cNvSpPr/>
          <p:nvPr/>
        </p:nvSpPr>
        <p:spPr>
          <a:xfrm>
            <a:off x="7594600" y="1270000"/>
            <a:ext cx="406400" cy="4064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7" name="S207"/>
          <p:cNvSpPr/>
          <p:nvPr/>
        </p:nvSpPr>
        <p:spPr>
          <a:xfrm>
            <a:off x="8077200" y="1270000"/>
            <a:ext cx="2819400" cy="1524000"/>
          </a:xfrm>
          <a:prstGeom prst="roundRect">
            <a:avLst/>
          </a:prstGeom>
          <a:solidFill>
            <a:srgbClr val="132A43"/>
          </a:solidFill>
          <a:ln w="15875">
            <a:solidFill>
              <a:srgbClr val="48CAE4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Plan Generation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Interleaved Thinking decomposes task into subtasks with reasoning</a:t>
            </a:r>
          </a:p>
        </p:txBody>
      </p:sp>
      <p:cxnSp>
        <p:nvCxnSpPr>
          <p:cNvPr id="208" name="A208"/>
          <p:cNvCxnSpPr/>
          <p:nvPr/>
        </p:nvCxnSpPr>
        <p:spPr>
          <a:xfrm>
            <a:off x="3835400" y="2032000"/>
            <a:ext cx="711200" cy="1"/>
          </a:xfrm>
          <a:prstGeom prst="line">
            <a:avLst/>
          </a:prstGeom>
          <a:ln w="15875">
            <a:solidFill>
              <a:srgbClr val="48CAE4"/>
            </a:solidFill>
            <a:tailEnd type="triangle" w="med" len="med"/>
          </a:ln>
        </p:spPr>
      </p:cxnSp>
      <p:cxnSp>
        <p:nvCxnSpPr>
          <p:cNvPr id="209" name="A209"/>
          <p:cNvCxnSpPr/>
          <p:nvPr/>
        </p:nvCxnSpPr>
        <p:spPr>
          <a:xfrm>
            <a:off x="7366000" y="2032000"/>
            <a:ext cx="711200" cy="1"/>
          </a:xfrm>
          <a:prstGeom prst="line">
            <a:avLst/>
          </a:prstGeom>
          <a:ln w="15875">
            <a:solidFill>
              <a:srgbClr val="48CAE4"/>
            </a:solidFill>
            <a:tailEnd type="triangle" w="med" len="med"/>
          </a:ln>
        </p:spPr>
      </p:cxnSp>
      <p:sp>
        <p:nvSpPr>
          <p:cNvPr id="211" name="S211"/>
          <p:cNvSpPr/>
          <p:nvPr/>
        </p:nvSpPr>
        <p:spPr>
          <a:xfrm>
            <a:off x="4762500" y="2997200"/>
            <a:ext cx="2667000" cy="355600"/>
          </a:xfrm>
          <a:prstGeom prst="roundRect">
            <a:avLst/>
          </a:prstGeom>
          <a:solidFill>
            <a:srgbClr val="0B1929"/>
          </a:solidFill>
          <a:ln w="9525">
            <a:solidFill>
              <a:srgbClr val="48CAE4"/>
            </a:solidFill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48CAE4"/>
                </a:solidFill>
              </a:rPr>
              <a:t>GLM 4.7 Agent Loop ↻</a:t>
            </a:r>
          </a:p>
        </p:txBody>
      </p:sp>
      <p:sp>
        <p:nvSpPr>
          <p:cNvPr id="212" name="S212"/>
          <p:cNvSpPr/>
          <p:nvPr/>
        </p:nvSpPr>
        <p:spPr>
          <a:xfrm>
            <a:off x="533400" y="3683000"/>
            <a:ext cx="406400" cy="406400"/>
          </a:xfrm>
          <a:prstGeom prst="ellipse">
            <a:avLst/>
          </a:prstGeom>
          <a:solidFill>
            <a:srgbClr val="8B2020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3" name="S213"/>
          <p:cNvSpPr/>
          <p:nvPr/>
        </p:nvSpPr>
        <p:spPr>
          <a:xfrm>
            <a:off x="1016000" y="3683000"/>
            <a:ext cx="2819400" cy="1524000"/>
          </a:xfrm>
          <a:prstGeom prst="roundRect">
            <a:avLst/>
          </a:prstGeom>
          <a:solidFill>
            <a:srgbClr val="132A43"/>
          </a:solidFill>
          <a:ln w="15875">
            <a:solidFill>
              <a:srgbClr val="FF6B6B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Code Generation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GLM 4.7 generates multi-file changes with Preserved Thinking</a:t>
            </a:r>
          </a:p>
        </p:txBody>
      </p:sp>
      <p:sp>
        <p:nvSpPr>
          <p:cNvPr id="214" name="S214"/>
          <p:cNvSpPr/>
          <p:nvPr/>
        </p:nvSpPr>
        <p:spPr>
          <a:xfrm>
            <a:off x="4064000" y="3683000"/>
            <a:ext cx="406400" cy="406400"/>
          </a:xfrm>
          <a:prstGeom prst="ellipse">
            <a:avLst/>
          </a:prstGeom>
          <a:solidFill>
            <a:srgbClr val="1A7A3D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5" name="S215"/>
          <p:cNvSpPr/>
          <p:nvPr/>
        </p:nvSpPr>
        <p:spPr>
          <a:xfrm>
            <a:off x="4546600" y="3683000"/>
            <a:ext cx="2819400" cy="1524000"/>
          </a:xfrm>
          <a:prstGeom prst="roundRect">
            <a:avLst/>
          </a:prstGeom>
          <a:solidFill>
            <a:srgbClr val="132A43"/>
          </a:solidFill>
          <a:ln w="15875">
            <a:solidFill>
              <a:srgbClr val="2ECC71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Test &amp; Iterate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Runs tests, reads errors, auto-fixes failures in agent loop</a:t>
            </a:r>
          </a:p>
        </p:txBody>
      </p:sp>
      <p:sp>
        <p:nvSpPr>
          <p:cNvPr id="216" name="S216"/>
          <p:cNvSpPr/>
          <p:nvPr/>
        </p:nvSpPr>
        <p:spPr>
          <a:xfrm>
            <a:off x="7594600" y="3683000"/>
            <a:ext cx="406400" cy="406400"/>
          </a:xfrm>
          <a:prstGeom prst="ellipse">
            <a:avLst/>
          </a:prstGeom>
          <a:solidFill>
            <a:srgbClr val="0077B6"/>
          </a:solidFill>
          <a:ln w="0">
            <a:noFill/>
          </a:ln>
        </p:spPr>
        <p:txBody>
          <a:bodyPr wrap="square" lIns="36000" tIns="18000" rIns="36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7" name="S217"/>
          <p:cNvSpPr/>
          <p:nvPr/>
        </p:nvSpPr>
        <p:spPr>
          <a:xfrm>
            <a:off x="8077200" y="3683000"/>
            <a:ext cx="2819400" cy="1524000"/>
          </a:xfrm>
          <a:prstGeom prst="roundRect">
            <a:avLst/>
          </a:prstGeom>
          <a:solidFill>
            <a:srgbClr val="132A43"/>
          </a:solidFill>
          <a:ln w="15875">
            <a:solidFill>
              <a:srgbClr val="0077B6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Review &amp; Commit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Developer approves changes, PR submitted via GitHub MCP</a:t>
            </a:r>
          </a:p>
        </p:txBody>
      </p:sp>
      <p:cxnSp>
        <p:nvCxnSpPr>
          <p:cNvPr id="218" name="A218"/>
          <p:cNvCxnSpPr/>
          <p:nvPr/>
        </p:nvCxnSpPr>
        <p:spPr>
          <a:xfrm>
            <a:off x="3835400" y="4445000"/>
            <a:ext cx="711200" cy="1"/>
          </a:xfrm>
          <a:prstGeom prst="line">
            <a:avLst/>
          </a:prstGeom>
          <a:ln w="15875">
            <a:solidFill>
              <a:srgbClr val="48CAE4"/>
            </a:solidFill>
            <a:tailEnd type="triangle" w="med" len="med"/>
          </a:ln>
        </p:spPr>
      </p:cxnSp>
      <p:cxnSp>
        <p:nvCxnSpPr>
          <p:cNvPr id="219" name="A219"/>
          <p:cNvCxnSpPr/>
          <p:nvPr/>
        </p:nvCxnSpPr>
        <p:spPr>
          <a:xfrm>
            <a:off x="7366000" y="4445000"/>
            <a:ext cx="711200" cy="1"/>
          </a:xfrm>
          <a:prstGeom prst="line">
            <a:avLst/>
          </a:prstGeom>
          <a:ln w="15875">
            <a:solidFill>
              <a:srgbClr val="48CAE4"/>
            </a:solidFill>
            <a:tailEnd type="triangle" w="med" len="med"/>
          </a:ln>
        </p:spPr>
      </p:cxnSp>
      <p:sp>
        <p:nvSpPr>
          <p:cNvPr id="221" name="S221"/>
          <p:cNvSpPr/>
          <p:nvPr/>
        </p:nvSpPr>
        <p:spPr>
          <a:xfrm>
            <a:off x="406400" y="5461000"/>
            <a:ext cx="5588000" cy="762000"/>
          </a:xfrm>
          <a:prstGeom prst="roundRect">
            <a:avLst/>
          </a:prstGeom>
          <a:solidFill>
            <a:srgbClr val="132A43"/>
          </a:solidFill>
          <a:ln w="12700">
            <a:solidFill>
              <a:srgbClr val="00B4D8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200" b="1" dirty="0">
                <a:solidFill>
                  <a:srgbClr val="00B4D8"/>
                </a:solidFill>
              </a:rPr>
              <a:t>Interleaved Thinking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GLM 4.7 reasons before every action and tool call,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preserving context across the entire session</a:t>
            </a:r>
          </a:p>
        </p:txBody>
      </p:sp>
      <p:sp>
        <p:nvSpPr>
          <p:cNvPr id="222" name="S222"/>
          <p:cNvSpPr/>
          <p:nvPr/>
        </p:nvSpPr>
        <p:spPr>
          <a:xfrm>
            <a:off x="6197600" y="5461000"/>
            <a:ext cx="5588000" cy="762000"/>
          </a:xfrm>
          <a:prstGeom prst="roundRect">
            <a:avLst/>
          </a:prstGeom>
          <a:solidFill>
            <a:srgbClr val="132A43"/>
          </a:solidFill>
          <a:ln w="12700">
            <a:solidFill>
              <a:srgbClr val="2ECC71"/>
            </a:solidFill>
          </a:ln>
        </p:spPr>
        <p:txBody>
          <a:bodyPr wrap="square" lIns="45000" tIns="27000" rIns="45000" bIns="27000" anchor="ctr"/>
          <a:lstStyle/>
          <a:p>
            <a:pPr algn="ctr"/>
            <a:r>
              <a:rPr lang="en-US" sz="1200" b="1" dirty="0">
                <a:solidFill>
                  <a:srgbClr val="2ECC71"/>
                </a:solidFill>
              </a:rPr>
              <a:t>Human-in-the-Loop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Permission gates at file writes &amp; terminal commands.</a:t>
            </a:r>
          </a:p>
          <a:p>
            <a:pPr algn="ctr"/>
            <a:r>
              <a:rPr lang="en-US" sz="1000" dirty="0">
                <a:solidFill>
                  <a:srgbClr val="C8D6E5"/>
                </a:solidFill>
              </a:rPr>
              <a:t>Developer reviews &amp; approves before code ships.</a:t>
            </a:r>
          </a:p>
        </p:txBody>
      </p:sp>
      <p:cxnSp>
        <p:nvCxnSpPr>
          <p:cNvPr id="250" name="FlowDown"/>
          <p:cNvCxnSpPr/>
          <p:nvPr/>
        </p:nvCxnSpPr>
        <p:spPr>
          <a:xfrm>
            <a:off x="6096000" y="2794000"/>
            <a:ext cx="1" cy="889000"/>
          </a:xfrm>
          <a:prstGeom prst="line">
            <a:avLst/>
          </a:prstGeom>
          <a:ln w="19050">
            <a:solidFill>
              <a:srgbClr val="48CAE4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0560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T400"/>
          <p:cNvSpPr/>
          <p:nvPr/>
        </p:nvSpPr>
        <p:spPr>
          <a:xfrm>
            <a:off x="457200" y="177800"/>
            <a:ext cx="11277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l"/>
            <a:r>
              <a:rPr lang="en-US" sz="2200" b="1" dirty="0">
                <a:solidFill>
                  <a:srgbClr val="FFFFFF"/>
                </a:solidFill>
              </a:rPr>
              <a:t>Communication Flow: Agent in Action</a:t>
            </a:r>
          </a:p>
        </p:txBody>
      </p:sp>
      <p:sp>
        <p:nvSpPr>
          <p:cNvPr id="401" name="T401"/>
          <p:cNvSpPr/>
          <p:nvPr/>
        </p:nvSpPr>
        <p:spPr>
          <a:xfrm>
            <a:off x="457200" y="711200"/>
            <a:ext cx="112776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l"/>
            <a:r>
              <a:rPr lang="en-US" sz="1400" dirty="0">
                <a:solidFill>
                  <a:srgbClr val="90A4AE"/>
                </a:solidFill>
              </a:rPr>
              <a:t>Real-time message sequence when a developer asks Claude Code to implement a feature</a:t>
            </a:r>
          </a:p>
        </p:txBody>
      </p:sp>
      <p:sp>
        <p:nvSpPr>
          <p:cNvPr id="402" name="S402"/>
          <p:cNvSpPr/>
          <p:nvPr/>
        </p:nvSpPr>
        <p:spPr>
          <a:xfrm>
            <a:off x="635000" y="1117600"/>
            <a:ext cx="2794000" cy="431800"/>
          </a:xfrm>
          <a:prstGeom prst="roundRect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T403"/>
          <p:cNvSpPr/>
          <p:nvPr/>
        </p:nvSpPr>
        <p:spPr>
          <a:xfrm>
            <a:off x="635000" y="1117600"/>
            <a:ext cx="2794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VS Code / Project</a:t>
            </a:r>
          </a:p>
        </p:txBody>
      </p:sp>
      <p:sp>
        <p:nvSpPr>
          <p:cNvPr id="404" name="S404"/>
          <p:cNvSpPr/>
          <p:nvPr/>
        </p:nvSpPr>
        <p:spPr>
          <a:xfrm>
            <a:off x="4648200" y="1117600"/>
            <a:ext cx="2794000" cy="431800"/>
          </a:xfrm>
          <a:prstGeom prst="roundRect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5" name="T405"/>
          <p:cNvSpPr/>
          <p:nvPr/>
        </p:nvSpPr>
        <p:spPr>
          <a:xfrm>
            <a:off x="4648200" y="1117600"/>
            <a:ext cx="2794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Claude Code Agent</a:t>
            </a:r>
          </a:p>
        </p:txBody>
      </p:sp>
      <p:sp>
        <p:nvSpPr>
          <p:cNvPr id="406" name="S406"/>
          <p:cNvSpPr/>
          <p:nvPr/>
        </p:nvSpPr>
        <p:spPr>
          <a:xfrm>
            <a:off x="8636000" y="1117600"/>
            <a:ext cx="2794000" cy="431800"/>
          </a:xfrm>
          <a:prstGeom prst="roundRect">
            <a:avLst/>
          </a:prstGeom>
          <a:solidFill>
            <a:srgbClr val="5C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7" name="T407"/>
          <p:cNvSpPr/>
          <p:nvPr/>
        </p:nvSpPr>
        <p:spPr>
          <a:xfrm>
            <a:off x="8636000" y="1117600"/>
            <a:ext cx="27940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GLM 4.7 LLM</a:t>
            </a:r>
          </a:p>
        </p:txBody>
      </p:sp>
      <p:sp>
        <p:nvSpPr>
          <p:cNvPr id="408" name="S408"/>
          <p:cNvSpPr/>
          <p:nvPr/>
        </p:nvSpPr>
        <p:spPr>
          <a:xfrm>
            <a:off x="2019300" y="1574800"/>
            <a:ext cx="25400" cy="4038600"/>
          </a:xfrm>
          <a:prstGeom prst="rect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9" name="S409"/>
          <p:cNvSpPr/>
          <p:nvPr/>
        </p:nvSpPr>
        <p:spPr>
          <a:xfrm>
            <a:off x="6032500" y="1574800"/>
            <a:ext cx="25400" cy="4038600"/>
          </a:xfrm>
          <a:prstGeom prst="rect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0" name="S410"/>
          <p:cNvSpPr/>
          <p:nvPr/>
        </p:nvSpPr>
        <p:spPr>
          <a:xfrm>
            <a:off x="10020300" y="1574800"/>
            <a:ext cx="25400" cy="4038600"/>
          </a:xfrm>
          <a:prstGeom prst="rect">
            <a:avLst/>
          </a:prstGeom>
          <a:solidFill>
            <a:srgbClr val="5C1A1A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1" name="S411"/>
          <p:cNvSpPr/>
          <p:nvPr/>
        </p:nvSpPr>
        <p:spPr>
          <a:xfrm>
            <a:off x="152400" y="1727200"/>
            <a:ext cx="355600" cy="3556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2" name="T412"/>
          <p:cNvSpPr/>
          <p:nvPr/>
        </p:nvSpPr>
        <p:spPr>
          <a:xfrm>
            <a:off x="152400" y="17272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cxnSp>
        <p:nvCxnSpPr>
          <p:cNvPr id="413" name="A413"/>
          <p:cNvCxnSpPr/>
          <p:nvPr/>
        </p:nvCxnSpPr>
        <p:spPr>
          <a:xfrm>
            <a:off x="2032000" y="1905000"/>
            <a:ext cx="4013200" cy="1"/>
          </a:xfrm>
          <a:prstGeom prst="line">
            <a:avLst/>
          </a:prstGeom>
          <a:ln w="15875">
            <a:solidFill>
              <a:srgbClr val="00B4D8"/>
            </a:solidFill>
            <a:tailEnd type="triangle" w="med" len="med"/>
          </a:ln>
        </p:spPr>
      </p:cxnSp>
      <p:sp>
        <p:nvSpPr>
          <p:cNvPr id="414" name="B414"/>
          <p:cNvSpPr/>
          <p:nvPr/>
        </p:nvSpPr>
        <p:spPr>
          <a:xfrm>
            <a:off x="2184400" y="1625600"/>
            <a:ext cx="3708400" cy="304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00B4D8"/>
            </a:solidFill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"Add JWT auth and write tests"</a:t>
            </a:r>
          </a:p>
        </p:txBody>
      </p:sp>
      <p:sp>
        <p:nvSpPr>
          <p:cNvPr id="415" name="T415"/>
          <p:cNvSpPr/>
          <p:nvPr/>
        </p:nvSpPr>
        <p:spPr>
          <a:xfrm>
            <a:off x="2184400" y="1955800"/>
            <a:ext cx="3708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t"/>
          <a:lstStyle/>
          <a:p>
            <a:pPr algn="l"/>
            <a:r>
              <a:rPr lang="en-US" sz="1400" dirty="0">
                <a:solidFill>
                  <a:srgbClr val="7B97AA"/>
                </a:solidFill>
              </a:rPr>
              <a:t>Developer enters prompt in chat panel</a:t>
            </a:r>
          </a:p>
        </p:txBody>
      </p:sp>
      <p:sp>
        <p:nvSpPr>
          <p:cNvPr id="416" name="S416"/>
          <p:cNvSpPr/>
          <p:nvPr/>
        </p:nvSpPr>
        <p:spPr>
          <a:xfrm>
            <a:off x="152400" y="2514600"/>
            <a:ext cx="355600" cy="3556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T417"/>
          <p:cNvSpPr/>
          <p:nvPr/>
        </p:nvSpPr>
        <p:spPr>
          <a:xfrm>
            <a:off x="152400" y="25146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</a:t>
            </a:r>
          </a:p>
        </p:txBody>
      </p:sp>
      <p:cxnSp>
        <p:nvCxnSpPr>
          <p:cNvPr id="418" name="A418"/>
          <p:cNvCxnSpPr/>
          <p:nvPr/>
        </p:nvCxnSpPr>
        <p:spPr>
          <a:xfrm flipH="1">
            <a:off x="2032000" y="2692400"/>
            <a:ext cx="4013200" cy="1"/>
          </a:xfrm>
          <a:prstGeom prst="line">
            <a:avLst/>
          </a:prstGeom>
          <a:ln w="15875">
            <a:solidFill>
              <a:srgbClr val="48CAE4"/>
            </a:solidFill>
            <a:prstDash val="dash"/>
            <a:tailEnd type="triangle" w="med" len="med"/>
          </a:ln>
        </p:spPr>
      </p:cxnSp>
      <p:sp>
        <p:nvSpPr>
          <p:cNvPr id="419" name="B419"/>
          <p:cNvSpPr/>
          <p:nvPr/>
        </p:nvSpPr>
        <p:spPr>
          <a:xfrm>
            <a:off x="2184400" y="2413000"/>
            <a:ext cx="3708400" cy="304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48CAE4"/>
            </a:solidFill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Reads src/, CLAUDE.md, deps</a:t>
            </a:r>
          </a:p>
        </p:txBody>
      </p:sp>
      <p:sp>
        <p:nvSpPr>
          <p:cNvPr id="420" name="T420"/>
          <p:cNvSpPr/>
          <p:nvPr/>
        </p:nvSpPr>
        <p:spPr>
          <a:xfrm>
            <a:off x="2184400" y="2743200"/>
            <a:ext cx="3708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t"/>
          <a:lstStyle/>
          <a:p>
            <a:pPr algn="r"/>
            <a:r>
              <a:rPr lang="en-US" sz="1400" dirty="0">
                <a:solidFill>
                  <a:srgbClr val="7B97AA"/>
                </a:solidFill>
              </a:rPr>
              <a:t>Agent scans project for context</a:t>
            </a:r>
          </a:p>
        </p:txBody>
      </p:sp>
      <p:sp>
        <p:nvSpPr>
          <p:cNvPr id="421" name="S421"/>
          <p:cNvSpPr/>
          <p:nvPr/>
        </p:nvSpPr>
        <p:spPr>
          <a:xfrm>
            <a:off x="152400" y="3302000"/>
            <a:ext cx="355600" cy="3556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2" name="T422"/>
          <p:cNvSpPr/>
          <p:nvPr/>
        </p:nvSpPr>
        <p:spPr>
          <a:xfrm>
            <a:off x="152400" y="33020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423" name="A423"/>
          <p:cNvCxnSpPr/>
          <p:nvPr/>
        </p:nvCxnSpPr>
        <p:spPr>
          <a:xfrm>
            <a:off x="6045200" y="3479800"/>
            <a:ext cx="3987800" cy="1"/>
          </a:xfrm>
          <a:prstGeom prst="line">
            <a:avLst/>
          </a:prstGeom>
          <a:ln w="15875">
            <a:solidFill>
              <a:srgbClr val="FF6B6B"/>
            </a:solidFill>
            <a:tailEnd type="triangle" w="med" len="med"/>
          </a:ln>
        </p:spPr>
      </p:cxnSp>
      <p:sp>
        <p:nvSpPr>
          <p:cNvPr id="424" name="B424"/>
          <p:cNvSpPr/>
          <p:nvPr/>
        </p:nvSpPr>
        <p:spPr>
          <a:xfrm>
            <a:off x="6197600" y="3200400"/>
            <a:ext cx="3683000" cy="304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FF6B6B"/>
            </a:solidFill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Prompt + code context → plan request</a:t>
            </a:r>
          </a:p>
        </p:txBody>
      </p:sp>
      <p:sp>
        <p:nvSpPr>
          <p:cNvPr id="425" name="T425"/>
          <p:cNvSpPr/>
          <p:nvPr/>
        </p:nvSpPr>
        <p:spPr>
          <a:xfrm>
            <a:off x="6197600" y="3530600"/>
            <a:ext cx="3683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t"/>
          <a:lstStyle/>
          <a:p>
            <a:pPr algn="l"/>
            <a:r>
              <a:rPr lang="en-US" sz="1400" dirty="0">
                <a:solidFill>
                  <a:srgbClr val="7B97AA"/>
                </a:solidFill>
              </a:rPr>
              <a:t>Sends task with Interleaved Thinking enabled</a:t>
            </a:r>
          </a:p>
        </p:txBody>
      </p:sp>
      <p:sp>
        <p:nvSpPr>
          <p:cNvPr id="426" name="S426"/>
          <p:cNvSpPr/>
          <p:nvPr/>
        </p:nvSpPr>
        <p:spPr>
          <a:xfrm>
            <a:off x="152400" y="4089400"/>
            <a:ext cx="355600" cy="3556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7" name="T427"/>
          <p:cNvSpPr/>
          <p:nvPr/>
        </p:nvSpPr>
        <p:spPr>
          <a:xfrm>
            <a:off x="152400" y="40894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cxnSp>
        <p:nvCxnSpPr>
          <p:cNvPr id="428" name="A428"/>
          <p:cNvCxnSpPr/>
          <p:nvPr/>
        </p:nvCxnSpPr>
        <p:spPr>
          <a:xfrm flipH="1">
            <a:off x="6045200" y="4267200"/>
            <a:ext cx="3987800" cy="1"/>
          </a:xfrm>
          <a:prstGeom prst="line">
            <a:avLst/>
          </a:prstGeom>
          <a:ln w="15875">
            <a:solidFill>
              <a:srgbClr val="FF6B6B"/>
            </a:solidFill>
            <a:prstDash val="dash"/>
            <a:tailEnd type="triangle" w="med" len="med"/>
          </a:ln>
        </p:spPr>
      </p:cxnSp>
      <p:sp>
        <p:nvSpPr>
          <p:cNvPr id="429" name="B429"/>
          <p:cNvSpPr/>
          <p:nvPr/>
        </p:nvSpPr>
        <p:spPr>
          <a:xfrm>
            <a:off x="6197600" y="3987800"/>
            <a:ext cx="3683000" cy="304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FF6B6B"/>
            </a:solidFill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Multi-file code + reasoning trace</a:t>
            </a:r>
          </a:p>
        </p:txBody>
      </p:sp>
      <p:sp>
        <p:nvSpPr>
          <p:cNvPr id="430" name="T430"/>
          <p:cNvSpPr/>
          <p:nvPr/>
        </p:nvSpPr>
        <p:spPr>
          <a:xfrm>
            <a:off x="6197600" y="4318000"/>
            <a:ext cx="3683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t"/>
          <a:lstStyle/>
          <a:p>
            <a:pPr algn="r"/>
            <a:r>
              <a:rPr lang="en-US" sz="1400" dirty="0">
                <a:solidFill>
                  <a:srgbClr val="7B97AA"/>
                </a:solidFill>
              </a:rPr>
              <a:t>Returns auth routes, middleware, tests</a:t>
            </a:r>
          </a:p>
        </p:txBody>
      </p:sp>
      <p:sp>
        <p:nvSpPr>
          <p:cNvPr id="431" name="S431"/>
          <p:cNvSpPr/>
          <p:nvPr/>
        </p:nvSpPr>
        <p:spPr>
          <a:xfrm>
            <a:off x="152400" y="4876800"/>
            <a:ext cx="355600" cy="355600"/>
          </a:xfrm>
          <a:prstGeom prst="ellipse">
            <a:avLst/>
          </a:prstGeom>
          <a:solidFill>
            <a:srgbClr val="005F7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2" name="T432"/>
          <p:cNvSpPr/>
          <p:nvPr/>
        </p:nvSpPr>
        <p:spPr>
          <a:xfrm>
            <a:off x="152400" y="4876800"/>
            <a:ext cx="3556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5</a:t>
            </a:r>
          </a:p>
        </p:txBody>
      </p:sp>
      <p:cxnSp>
        <p:nvCxnSpPr>
          <p:cNvPr id="433" name="A433"/>
          <p:cNvCxnSpPr/>
          <p:nvPr/>
        </p:nvCxnSpPr>
        <p:spPr>
          <a:xfrm flipH="1">
            <a:off x="2032000" y="5054600"/>
            <a:ext cx="4013200" cy="1"/>
          </a:xfrm>
          <a:prstGeom prst="line">
            <a:avLst/>
          </a:prstGeom>
          <a:ln w="15875">
            <a:solidFill>
              <a:srgbClr val="2ECC71"/>
            </a:solidFill>
            <a:tailEnd type="triangle" w="med" len="med"/>
          </a:ln>
        </p:spPr>
      </p:cxnSp>
      <p:sp>
        <p:nvSpPr>
          <p:cNvPr id="434" name="B434"/>
          <p:cNvSpPr/>
          <p:nvPr/>
        </p:nvSpPr>
        <p:spPr>
          <a:xfrm>
            <a:off x="2184400" y="4775200"/>
            <a:ext cx="3708400" cy="304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2ECC71"/>
            </a:solidFill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Applies changes + runs tests → PR</a:t>
            </a:r>
          </a:p>
        </p:txBody>
      </p:sp>
      <p:sp>
        <p:nvSpPr>
          <p:cNvPr id="435" name="T435"/>
          <p:cNvSpPr/>
          <p:nvPr/>
        </p:nvSpPr>
        <p:spPr>
          <a:xfrm>
            <a:off x="2184400" y="5105400"/>
            <a:ext cx="3708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45000" tIns="18000" rIns="45000" bIns="18000" anchor="t"/>
          <a:lstStyle/>
          <a:p>
            <a:pPr algn="r"/>
            <a:r>
              <a:rPr lang="en-US" sz="1400" dirty="0">
                <a:solidFill>
                  <a:srgbClr val="7B97AA"/>
                </a:solidFill>
              </a:rPr>
              <a:t>Permission gate → write files → commit</a:t>
            </a:r>
          </a:p>
        </p:txBody>
      </p:sp>
      <p:sp>
        <p:nvSpPr>
          <p:cNvPr id="436" name="B436"/>
          <p:cNvSpPr/>
          <p:nvPr/>
        </p:nvSpPr>
        <p:spPr>
          <a:xfrm>
            <a:off x="7112000" y="4648200"/>
            <a:ext cx="1905000" cy="304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48CAE4"/>
            </a:solidFill>
          </a:ln>
        </p:spPr>
        <p:txBody>
          <a:bodyPr wrap="square" lIns="54000" tIns="27000" rIns="54000" bIns="27000" anchor="ctr"/>
          <a:lstStyle/>
          <a:p>
            <a:pPr algn="ctr"/>
            <a:r>
              <a:rPr lang="en-US" sz="1400" b="1" dirty="0">
                <a:solidFill>
                  <a:srgbClr val="48CAE4"/>
                </a:solidFill>
              </a:rPr>
              <a:t>↻ Repeats if tests fail</a:t>
            </a:r>
          </a:p>
        </p:txBody>
      </p:sp>
      <p:sp>
        <p:nvSpPr>
          <p:cNvPr id="437" name="B437"/>
          <p:cNvSpPr/>
          <p:nvPr/>
        </p:nvSpPr>
        <p:spPr>
          <a:xfrm>
            <a:off x="457200" y="5791200"/>
            <a:ext cx="5537200" cy="558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00B4D8"/>
            </a:solidFill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400" b="1" dirty="0">
                <a:solidFill>
                  <a:srgbClr val="00B4D8"/>
                </a:solidFill>
              </a:rPr>
              <a:t>Minimal prompt context</a:t>
            </a:r>
          </a:p>
          <a:p>
            <a:pPr algn="l"/>
            <a:r>
              <a:rPr lang="en-US" sz="1400" dirty="0">
                <a:solidFill>
                  <a:srgbClr val="C8D6E5"/>
                </a:solidFill>
              </a:rPr>
              <a:t>Only relevant code sent to API — not the full repo</a:t>
            </a:r>
          </a:p>
        </p:txBody>
      </p:sp>
      <p:sp>
        <p:nvSpPr>
          <p:cNvPr id="438" name="B438"/>
          <p:cNvSpPr/>
          <p:nvPr/>
        </p:nvSpPr>
        <p:spPr>
          <a:xfrm>
            <a:off x="6197600" y="5791200"/>
            <a:ext cx="5537200" cy="558800"/>
          </a:xfrm>
          <a:prstGeom prst="roundRect">
            <a:avLst/>
          </a:prstGeom>
          <a:solidFill>
            <a:srgbClr val="0F2233"/>
          </a:solidFill>
          <a:ln w="12700">
            <a:solidFill>
              <a:srgbClr val="2ECC71"/>
            </a:solidFill>
          </a:ln>
        </p:spPr>
        <p:txBody>
          <a:bodyPr wrap="square" lIns="54000" tIns="27000" rIns="54000" bIns="27000" anchor="ctr"/>
          <a:lstStyle/>
          <a:p>
            <a:pPr algn="l"/>
            <a:r>
              <a:rPr lang="en-US" sz="1400" b="1" dirty="0">
                <a:solidFill>
                  <a:srgbClr val="2ECC71"/>
                </a:solidFill>
              </a:rPr>
              <a:t>Self-correcting agent loop</a:t>
            </a:r>
          </a:p>
          <a:p>
            <a:pPr algn="l"/>
            <a:r>
              <a:rPr lang="en-US" sz="1400" dirty="0">
                <a:solidFill>
                  <a:srgbClr val="C8D6E5"/>
                </a:solidFill>
              </a:rPr>
              <a:t>Steps 3–4 repeat until all tests pass</a:t>
            </a:r>
          </a:p>
        </p:txBody>
      </p:sp>
    </p:spTree>
    <p:extLst>
      <p:ext uri="{BB962C8B-B14F-4D97-AF65-F5344CB8AC3E}">
        <p14:creationId xmlns:p14="http://schemas.microsoft.com/office/powerpoint/2010/main" val="2540071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6365054964]">
  <a:themeElements>
    <a:clrScheme name="Office">
      <a:dk1>
        <a:srgbClr val="FFFFFF"/>
      </a:dk1>
      <a:lt1>
        <a:srgbClr val="0B1929"/>
      </a:lt1>
      <a:dk2>
        <a:srgbClr val="C8D6E5"/>
      </a:dk2>
      <a:lt2>
        <a:srgbClr val="132A43"/>
      </a:lt2>
      <a:accent1>
        <a:srgbClr val="00B4D8"/>
      </a:accent1>
      <a:accent2>
        <a:srgbClr val="0077B6"/>
      </a:accent2>
      <a:accent3>
        <a:srgbClr val="48CAE4"/>
      </a:accent3>
      <a:accent4>
        <a:srgbClr val="90E0EF"/>
      </a:accent4>
      <a:accent5>
        <a:srgbClr val="FF6B6B"/>
      </a:accent5>
      <a:accent6>
        <a:srgbClr val="2ECC71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976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E2C752-4F3A-41C0-A085-F94205C0A29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c9dd663-89c8-49d2-916c-ac5d2b8e902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1253</Words>
  <Application>Microsoft Office PowerPoint</Application>
  <PresentationFormat>Widescreen</PresentationFormat>
  <Paragraphs>219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Segoe UI</vt:lpstr>
      <vt:lpstr>Segoe UI Semibold</vt:lpstr>
      <vt:lpstr>Office Theme [1776365054964]</vt:lpstr>
      <vt:lpstr>AI Coding Agents Strategic Evaluation for Enterprise Deployment</vt:lpstr>
      <vt:lpstr>Why AI Coding Agents Now?</vt:lpstr>
      <vt:lpstr>Candidates at a Glance</vt:lpstr>
      <vt:lpstr>Codemate — Deep Dive</vt:lpstr>
      <vt:lpstr>Roo Code — Deep Dive</vt:lpstr>
      <vt:lpstr>Claude Code + GLM 4.7 — Deep Dive</vt:lpstr>
      <vt:lpstr>Head-to-Head Comparison</vt:lpstr>
      <vt:lpstr>Recommendation &amp; Next Steps</vt:lpstr>
      <vt:lpstr>Demo: Claude Code — Key Features</vt:lpstr>
      <vt:lpstr>Demo: GLM 4.7 — Key Features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Satish Atmakuri</dc:creator>
  <cp:lastModifiedBy>Satish Atmakuri</cp:lastModifiedBy>
  <cp:revision>2</cp:revision>
  <dcterms:created xsi:type="dcterms:W3CDTF">2026-04-16T18:44:14Z</dcterms:created>
  <dcterms:modified xsi:type="dcterms:W3CDTF">2026-04-16T19:22:27Z</dcterms:modified>
</cp:coreProperties>
</file>
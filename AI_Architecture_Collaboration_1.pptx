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20624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47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2331720"/>
            <a:ext cx="3291840" cy="36576"/>
          </a:xfrm>
          <a:prstGeom prst="rect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871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Context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852928"/>
            <a:ext cx="5486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5292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transforming how QA engineering teams design, execute and analyse tests at global scale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3721608"/>
            <a:ext cx="5486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2160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SSIR-PE and DSK-PE operate independently — missing compounding gains from shared knowledge and tooling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4590288"/>
            <a:ext cx="5486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59028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AI use cases across Quality &amp; Efficiency tracks require a unified architecture to scale sustainably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5458968"/>
            <a:ext cx="5486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45896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&amp; SATA storage products demand domain-specialised AI — not generic off-the-shelf solutions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6537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QA AI Solutions Architecture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0" y="2560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DOING THIS?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658368"/>
            <a:ext cx="7223760" cy="1243584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658368"/>
            <a:ext cx="54864" cy="12435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18304" y="914400"/>
            <a:ext cx="512064" cy="512064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914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58384" y="813816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Architecture Exists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58384" y="1152144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AI initiative is built ad-hoc with different tools, models and patterns. Without a common 7-layer framework we cannot govern, reuse, or scale solutions across teams or product lines.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2066544"/>
            <a:ext cx="7223760" cy="1243584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2066544"/>
            <a:ext cx="54864" cy="12435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18304" y="2322576"/>
            <a:ext cx="512064" cy="512064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2322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58384" y="2221992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Engineering Effort Across Sites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58384" y="2560320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SSIR-PE and DSK-PE are solving similar problems independently. Shared agents, fine-tuned models, and automation tooling can eliminate redundant work and dramatically accelerate delivery.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0" y="3474720"/>
            <a:ext cx="7223760" cy="1243584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3474720"/>
            <a:ext cx="54864" cy="1243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18304" y="3730752"/>
            <a:ext cx="512064" cy="512064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3730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58384" y="3630168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Use Cases Need Orchestrated Governance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58384" y="3968496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Efficiency AI tracks — spanning RL workload generation, spec-to-test, failure RCA, code review and more — require a single coherent architecture to avoid fragmentation.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0" y="4882896"/>
            <a:ext cx="7223760" cy="1243584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0" y="4882896"/>
            <a:ext cx="54864" cy="12435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18304" y="5138928"/>
            <a:ext cx="512064" cy="512064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18304" y="5138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58384" y="5038344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R&amp;D Alignment is Business-Critical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58384" y="5376672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collaboration between overseas R&amp;D centres is essential to synchronise technology roadmaps, share best practices, and prevent strategic divergence that erodes product competitiveness.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251960" y="6492240"/>
            <a:ext cx="7909560" cy="36576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70832" y="6528816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70832" y="65471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Faster Delivery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27648" y="6528816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06B6D4">
              <a:alpha val="4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7648" y="65471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AI Platform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284464" y="6528816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7C3AED">
              <a:alpha val="4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84464" y="65471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Use Cases Unified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241280" y="6528816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F59E0B">
              <a:alpha val="4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241280" y="65471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Zero-Escape Quality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GAIN FROM THIS COLLABORATION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382512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strategic benefits of a structured, cross-site AI engineering partnership  |  SSIR-PE  x  DSK-PE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6576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36576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70432"/>
            <a:ext cx="457200" cy="45720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795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18872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Time-to-Value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1700784"/>
            <a:ext cx="3337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reusable agents, prompt libraries and model artefacts let both teams ship AI features 2x faster. Stop rebuilding the same foundation for every initiative.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907792"/>
            <a:ext cx="3291840" cy="47548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26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Faster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286000" y="29809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speed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51960" y="1005840"/>
            <a:ext cx="36576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1005840"/>
            <a:ext cx="36576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170432"/>
            <a:ext cx="457200" cy="457200"/>
          </a:xfrm>
          <a:prstGeom prst="ellipse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1795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118872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AI Architecture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434840" y="1700784"/>
            <a:ext cx="3337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7-layer framework gives every initiative a common language — from infrastructure to application layer. New use cases slot in without architectural rework.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34840" y="2907792"/>
            <a:ext cx="3291840" cy="475488"/>
          </a:xfrm>
          <a:prstGeom prst="rect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926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Layers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172200" y="29809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38160" y="1005840"/>
            <a:ext cx="36576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38160" y="1005840"/>
            <a:ext cx="36576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1170432"/>
            <a:ext cx="457200" cy="457200"/>
          </a:xfrm>
          <a:prstGeom prst="ellipse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1795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15400" y="118872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Quality &amp; Coverage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21040" y="1700784"/>
            <a:ext cx="3337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Spec-to-Test AI, Coverage Analysis, and RCA tools shared across sites raise defect detection rates, reduce escapes, and tighten spec traceability at every release gate.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21040" y="2907792"/>
            <a:ext cx="3291840" cy="475488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2926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0058400" y="29809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KPI targets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749040"/>
            <a:ext cx="36576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749040"/>
            <a:ext cx="36576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3913632"/>
            <a:ext cx="457200" cy="457200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9227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43000" y="393192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Productivity Uplift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48640" y="4443984"/>
            <a:ext cx="3337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test planning, script generation and automated failure triage free engineers from repetitive tasks — enabling each person to handle 3–5x more work at higher quality.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5650992"/>
            <a:ext cx="3291840" cy="47548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6692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3–5×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2286000" y="57241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gain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51960" y="3749040"/>
            <a:ext cx="36576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251960" y="3749040"/>
            <a:ext cx="36576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34840" y="3913632"/>
            <a:ext cx="457200" cy="45720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34840" y="39227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29200" y="393192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Domain Intelligence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434840" y="4443984"/>
            <a:ext cx="3337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and SATA product knowledge — failure modes, workload patterns, firmware behaviour — is encoded once in shared RL environments and RAG stores, compounding value across both orgs.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34840" y="5650992"/>
            <a:ext cx="3291840" cy="47548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26280" y="56692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Use Cases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6172200" y="57241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138160" y="3749040"/>
            <a:ext cx="36576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138160" y="3749040"/>
            <a:ext cx="36576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21040" y="3913632"/>
            <a:ext cx="457200" cy="457200"/>
          </a:xfrm>
          <a:prstGeom prst="ellipse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21040" y="39227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915400" y="3931920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Resilience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8321040" y="4443984"/>
            <a:ext cx="3337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knowledge exchange, shared runbooks and a governance cadence distribute AI expertise institutionally — eliminating single-points-of-failure and protecting delivery continuity.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321040" y="5650992"/>
            <a:ext cx="3291840" cy="475488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12480" y="56692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10058400" y="57241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0"/>
            <a:ext cx="12161520" cy="1554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2011680"/>
            <a:ext cx="54864" cy="2743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45720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13969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980944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82219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466344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550468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18872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SEVEN-LAYER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212080" y="29718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Global R&amp;D Collaboration Framework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12080" y="35661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AI Initiatives — Kick-off Meeting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Spec-to-Test · RL Workload Gen · Automated Failure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54864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AI Solutions Architecture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84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Physical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12252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Data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20665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Model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29077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 Context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 Agent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45902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 Orchestration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54315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  Application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3200400"/>
            <a:ext cx="4206240" cy="256032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Global Sync-up | SSIR-PE &amp; DSK-PE AI Teams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13385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533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&amp; Introductions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60934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leads from all R&amp;D centers — 10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92640" y="1444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39696"/>
            <a:ext cx="113385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39696"/>
            <a:ext cx="640080" cy="804672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04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2311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Seven-Layer Architecture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2560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framework for standardized AI initiative structure — 20 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92640" y="2395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90672"/>
            <a:ext cx="113385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90672"/>
            <a:ext cx="64008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552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182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AI Initiatives Overview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35112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Spec-to-Test, RL Workload Generation, Automated Failure Analysis — 20 min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92640" y="3346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41648"/>
            <a:ext cx="113385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041648"/>
            <a:ext cx="64008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06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4133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&amp; Best Practices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88720" y="446227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SSIR-PE shares · DSK-PE shares · Open discussion — 20 min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92640" y="4297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992624"/>
            <a:ext cx="113385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992624"/>
            <a:ext cx="64008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51572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8720" y="50840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&amp; Collaboration Plan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88720" y="54132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owners, timelines, and next sync — 10 min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92640" y="52486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STANDARD ARCHITECTURE?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143000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 Current State: AI projects lack a standard for overall system structure — making cross-team collaboration and governance difficult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3749040" cy="4389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240280"/>
            <a:ext cx="374904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04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83464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797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initiative uses its own ad-hoc 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347472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198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common layer taxonomy across teams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411480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59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tooling &amp; model selection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475488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7000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compare and share learnings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5394960"/>
            <a:ext cx="146304" cy="14630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3400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debt accumulates fast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2240280"/>
            <a:ext cx="3749040" cy="4389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0" y="2240280"/>
            <a:ext cx="374904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2304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Gaps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62272" y="283464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7797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SSIR-PE and DSK-PE work in silos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62272" y="347472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4198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engineering effort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62272" y="411480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4059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repository for reusable components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62272" y="475488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47000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workload models not portable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62272" y="5394960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53400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 approaches diverge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0" y="2240280"/>
            <a:ext cx="3749040" cy="4389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29600" y="2240280"/>
            <a:ext cx="37490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2304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94192" y="283464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41080" y="27797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7-Layer AI Architecture standard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394192" y="347472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41080" y="34198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tooling &amp; model governance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394192" y="411480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41080" y="4059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agent &amp; prompt libraries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394192" y="475488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41080" y="47000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lesson &amp; best practice cadence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394192" y="539496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41080" y="53400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long-term AI roadmap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SEVEN-LAYER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sustainable, technology-agnostic framework for all AI initiatives in QA engineering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47548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2588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1170432"/>
            <a:ext cx="11064240" cy="621792"/>
          </a:xfrm>
          <a:prstGeom prst="rect">
            <a:avLst/>
          </a:prstGeom>
          <a:solidFill>
            <a:srgbClr val="7C3AED">
              <a:alpha val="18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252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1243584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products &amp; QA AI tools — Test dashboards, failure reports, test case portals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0" y="1280160"/>
            <a:ext cx="13716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20240"/>
            <a:ext cx="475488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7568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" y="1920240"/>
            <a:ext cx="11064240" cy="621792"/>
          </a:xfrm>
          <a:prstGeom prst="rect">
            <a:avLst/>
          </a:prstGeom>
          <a:solidFill>
            <a:srgbClr val="0891B2">
              <a:alpha val="18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9751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0" y="199339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coordination — LangChain, Airflow, multi-agent pipelines, prompt chaining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0" y="2029968"/>
            <a:ext cx="13716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670048"/>
            <a:ext cx="475488" cy="6217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2549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9808" y="2670048"/>
            <a:ext cx="11064240" cy="621792"/>
          </a:xfrm>
          <a:prstGeom prst="rect">
            <a:avLst/>
          </a:prstGeom>
          <a:solidFill>
            <a:srgbClr val="06B6D4">
              <a:alpha val="18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724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274320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— Spec parser agent, RL workload agent, failure triage agent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0" y="2779776"/>
            <a:ext cx="13716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419856"/>
            <a:ext cx="47548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57530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9808" y="3419856"/>
            <a:ext cx="11064240" cy="621792"/>
          </a:xfrm>
          <a:prstGeom prst="rect">
            <a:avLst/>
          </a:prstGeom>
          <a:solidFill>
            <a:srgbClr val="10B981">
              <a:alpha val="18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349300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RAG &amp; vector stores — Test spec DB, failure history, product datasheets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840480" y="3529584"/>
            <a:ext cx="13716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169664"/>
            <a:ext cx="47548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32511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9808" y="4169664"/>
            <a:ext cx="11064240" cy="621792"/>
          </a:xfrm>
          <a:prstGeom prst="rect">
            <a:avLst/>
          </a:prstGeom>
          <a:solidFill>
            <a:srgbClr val="F59E0B">
              <a:alpha val="18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2245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31920" y="4242816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RL models — GPT-4o, Claude, fine-tuned domain models, PPO/SAC agents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840480" y="4279392"/>
            <a:ext cx="13716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919472"/>
            <a:ext cx="475488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507492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49808" y="4919472"/>
            <a:ext cx="11064240" cy="621792"/>
          </a:xfrm>
          <a:prstGeom prst="rect">
            <a:avLst/>
          </a:prstGeom>
          <a:solidFill>
            <a:srgbClr val="F97316">
              <a:alpha val="18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9743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31920" y="4992624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inference data — NVMe logs, SATA traces, labeled test corpora, synthetic data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840480" y="5029200"/>
            <a:ext cx="13716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5669280"/>
            <a:ext cx="475488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582472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49808" y="5669280"/>
            <a:ext cx="11064240" cy="621792"/>
          </a:xfrm>
          <a:prstGeom prst="rect">
            <a:avLst/>
          </a:prstGeom>
          <a:solidFill>
            <a:srgbClr val="EF4444">
              <a:alpha val="18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57241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931920" y="57424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platforms — CUDA/ROCm, cloud GPUs, on-prem HPC, MLOps pipelines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40480" y="5779008"/>
            <a:ext cx="13716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Our Initiatives span all 7 Layers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1  |  SPEC-TO-TEST CASE &amp; SCRIPT GENERATION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291840" cy="621792"/>
          </a:xfrm>
          <a:prstGeom prst="roundRect">
            <a:avLst>
              <a:gd name="adj" fmla="val 7353"/>
            </a:avLst>
          </a:prstGeom>
          <a:solidFill>
            <a:srgbClr val="E9D5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0642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Spec / PRD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673352"/>
            <a:ext cx="0" cy="36576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39112"/>
            <a:ext cx="3291840" cy="621792"/>
          </a:xfrm>
          <a:prstGeom prst="roundRect">
            <a:avLst>
              <a:gd name="adj" fmla="val 7353"/>
            </a:avLst>
          </a:prstGeom>
          <a:solidFill>
            <a:srgbClr val="DDD6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9397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Parser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(Context Layer)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2660904"/>
            <a:ext cx="0" cy="36576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26664"/>
            <a:ext cx="3291840" cy="621792"/>
          </a:xfrm>
          <a:prstGeom prst="roundRect">
            <a:avLst>
              <a:gd name="adj" fmla="val 7353"/>
            </a:avLst>
          </a:prstGeom>
          <a:solidFill>
            <a:srgbClr val="C4B5F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8152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Generator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 Layer)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3648456"/>
            <a:ext cx="0" cy="36576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014216"/>
            <a:ext cx="3291840" cy="621792"/>
          </a:xfrm>
          <a:prstGeom prst="roundRect">
            <a:avLst>
              <a:gd name="adj" fmla="val 7353"/>
            </a:avLst>
          </a:prstGeom>
          <a:solidFill>
            <a:srgbClr val="A78BF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06908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Synthesizer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(Orchestration Layer)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4636008"/>
            <a:ext cx="0" cy="36576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5001768"/>
            <a:ext cx="3291840" cy="621792"/>
          </a:xfrm>
          <a:prstGeom prst="roundRect">
            <a:avLst>
              <a:gd name="adj" fmla="val 7353"/>
            </a:avLst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505663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&amp; Report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(Application Layer)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0" y="10058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06240" y="1508760"/>
            <a:ext cx="7589520" cy="9601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06240" y="150876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16002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Sources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07408" y="189280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spec docs, functional requirement sheets, datasheets, historical test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2697480"/>
            <a:ext cx="7589520" cy="9601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06240" y="269748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7408" y="27889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Approach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07408" y="308152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RAG-augmented LLM with domain-fine-tuned prompts; multi-shot learning from prior test suites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06240" y="3886200"/>
            <a:ext cx="7589520" cy="9601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06240" y="388620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39776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07408" y="427024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test cases (Gherkin/YAML), executable scripts (Python/Robot Framework), coverage reports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06240" y="5074920"/>
            <a:ext cx="7589520" cy="9601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06240" y="507492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07408" y="51663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Goals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07408" y="545896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conditions, stress scenarios, regression, negative path — auto-prioritized by risk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06240" y="63550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L3 Model · L4 Context · L5 Agent · L6 Orchestration · L7 Application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2  |  RL-BASED WORKLOAD GENERATION — NVMe &amp; SATA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Loop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0" y="1508760"/>
            <a:ext cx="164592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15544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(Device metrics)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49440" y="2286000"/>
            <a:ext cx="1645920" cy="7772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2331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(Policy)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0" y="3108960"/>
            <a:ext cx="1645920" cy="7772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3154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(Workload cmd)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2286000"/>
            <a:ext cx="1645920" cy="7772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331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(NVMe/SATA)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Pass/Fail + Performance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1463040"/>
            <a:ext cx="3291840" cy="62179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5544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read/write stress patterns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240280"/>
            <a:ext cx="3291840" cy="62179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33172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queue depth optimization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3291840" cy="62179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1089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boundary workloads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3291840" cy="62179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862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End-of-life wear simulation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3291840" cy="62179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6634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failure injection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7824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778240" y="1463040"/>
            <a:ext cx="3108960" cy="621792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5400" y="15270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915400" y="17647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/ SAC for continuous control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778240" y="2240280"/>
            <a:ext cx="3108960" cy="621792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15400" y="23042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915400" y="2542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IOPS, latency, queue, temp, wear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78240" y="3017520"/>
            <a:ext cx="3108960" cy="621792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15400" y="3081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915400" y="33192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size, queue depth, pattern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778240" y="3794760"/>
            <a:ext cx="3108960" cy="621792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15400" y="38587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915400" y="4096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score + stress reached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778240" y="4572000"/>
            <a:ext cx="3108960" cy="621792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15400" y="4636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915400" y="48737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RLlib + custom NVMe env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40080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L1 Infrastructure · L2 Data · L3 Model (RL) · L4 Context · L5 Agent · L6 Orchestration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3  |  AUTOMATED FAILURE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14884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43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1508760"/>
            <a:ext cx="21031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79192" y="1051560"/>
            <a:ext cx="2148840" cy="914400"/>
          </a:xfrm>
          <a:prstGeom prst="rect">
            <a:avLst/>
          </a:prstGeom>
          <a:solidFill>
            <a:srgbClr val="FFEDD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9192" y="1143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28032" y="1508760"/>
            <a:ext cx="21031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38344" y="1051560"/>
            <a:ext cx="214884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38344" y="1143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Analysis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87184" y="1508760"/>
            <a:ext cx="21031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97496" y="1051560"/>
            <a:ext cx="2148840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97496" y="1143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Scoring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546336" y="1508760"/>
            <a:ext cx="21031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56648" y="1051560"/>
            <a:ext cx="21488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56648" y="11430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70432" y="914400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9326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9584" y="914400"/>
            <a:ext cx="292608" cy="2926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9584" y="9326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88736" y="91440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88736" y="9326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47888" y="914400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888" y="9326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607040" y="914400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07040" y="9326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194560"/>
            <a:ext cx="3749040" cy="3931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194560"/>
            <a:ext cx="37490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258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Analyzes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2734056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2697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data &amp; wear indicators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3355848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33192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log patterns (NLP)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3977640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94106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failure sequences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459943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56285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context (temp, vibration)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" y="5221224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1846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revision cross-reference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51960" y="2194560"/>
            <a:ext cx="3749040" cy="3931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251960" y="2194560"/>
            <a:ext cx="37490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0" y="2258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Techniques Used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434840" y="2734056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697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NLP for log parsing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434840" y="3355848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3192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for time-series anomaly detection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434840" y="3977640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94106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for failure pattern grouping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434840" y="459943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456285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for causal chains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434840" y="5221224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51846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 natural language reports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183880" y="2194560"/>
            <a:ext cx="3749040" cy="3931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183880" y="2194560"/>
            <a:ext cx="37490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21040" y="2258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Deliverables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366760" y="2734056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95360" y="2697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classification report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366760" y="3355848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95360" y="331927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probability score per unit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366760" y="3977640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95360" y="394106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action suggestions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366760" y="459943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95360" y="456285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Auto-filed bug reports / JIRA tickets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66760" y="5221224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595360" y="51846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dashboard for QA leadership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57200" y="640080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L2 Data · L3 Model · L4 Context · L5 Agent · L6 Orchestration · L7 Application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INITIATIVE-TO-LAYER MAPPING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QA AI initiative maps across the seven-layer architecture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0" y="1097280"/>
            <a:ext cx="23774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0" y="11704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Spec-to-Test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75120" y="1097280"/>
            <a:ext cx="23774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1704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Workload Gen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235440" y="1097280"/>
            <a:ext cx="237744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0" y="11704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Failure Analysis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3657600" cy="566928"/>
          </a:xfrm>
          <a:prstGeom prst="rect">
            <a:avLst/>
          </a:prstGeom>
          <a:solidFill>
            <a:srgbClr val="7C3AED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196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 App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0" y="1691640"/>
            <a:ext cx="2377440" cy="566928"/>
          </a:xfrm>
          <a:prstGeom prst="rect">
            <a:avLst/>
          </a:prstGeom>
          <a:solidFill>
            <a:srgbClr val="7C3AED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801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75120" y="1691640"/>
            <a:ext cx="2377440" cy="56692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0" y="1691640"/>
            <a:ext cx="2377440" cy="566928"/>
          </a:xfrm>
          <a:prstGeom prst="rect">
            <a:avLst/>
          </a:prstGeom>
          <a:solidFill>
            <a:srgbClr val="F97316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1801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74320" y="2350008"/>
            <a:ext cx="3657600" cy="566928"/>
          </a:xfrm>
          <a:prstGeom prst="rect">
            <a:avLst/>
          </a:prstGeom>
          <a:solidFill>
            <a:srgbClr val="0891B2">
              <a:alpha val="30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780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Orch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0" y="2350008"/>
            <a:ext cx="2377440" cy="566928"/>
          </a:xfrm>
          <a:prstGeom prst="rect">
            <a:avLst/>
          </a:prstGeom>
          <a:solidFill>
            <a:srgbClr val="7C3AED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24597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675120" y="2350008"/>
            <a:ext cx="2377440" cy="566928"/>
          </a:xfrm>
          <a:prstGeom prst="rect">
            <a:avLst/>
          </a:prstGeom>
          <a:solidFill>
            <a:srgbClr val="0891B2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24597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235440" y="2350008"/>
            <a:ext cx="2377440" cy="566928"/>
          </a:xfrm>
          <a:prstGeom prst="rect">
            <a:avLst/>
          </a:prstGeom>
          <a:solidFill>
            <a:srgbClr val="F97316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4597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74320" y="3008376"/>
            <a:ext cx="3657600" cy="566928"/>
          </a:xfrm>
          <a:prstGeom prst="rect">
            <a:avLst/>
          </a:prstGeom>
          <a:solidFill>
            <a:srgbClr val="06B6D4">
              <a:alpha val="3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1363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Agent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0" y="3008376"/>
            <a:ext cx="2377440" cy="566928"/>
          </a:xfrm>
          <a:prstGeom prst="rect">
            <a:avLst/>
          </a:prstGeom>
          <a:solidFill>
            <a:srgbClr val="7C3AED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31181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675120" y="3008376"/>
            <a:ext cx="2377440" cy="566928"/>
          </a:xfrm>
          <a:prstGeom prst="rect">
            <a:avLst/>
          </a:prstGeom>
          <a:solidFill>
            <a:srgbClr val="0891B2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31181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35440" y="3008376"/>
            <a:ext cx="2377440" cy="566928"/>
          </a:xfrm>
          <a:prstGeom prst="rect">
            <a:avLst/>
          </a:prstGeom>
          <a:solidFill>
            <a:srgbClr val="F97316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35440" y="31181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74320" y="3666744"/>
            <a:ext cx="3657600" cy="566928"/>
          </a:xfrm>
          <a:prstGeom prst="rect">
            <a:avLst/>
          </a:prstGeom>
          <a:solidFill>
            <a:srgbClr val="10B981">
              <a:alpha val="3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7947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Context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14800" y="3666744"/>
            <a:ext cx="2377440" cy="566928"/>
          </a:xfrm>
          <a:prstGeom prst="rect">
            <a:avLst/>
          </a:prstGeom>
          <a:solidFill>
            <a:srgbClr val="7C3AED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37764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675120" y="3666744"/>
            <a:ext cx="2377440" cy="566928"/>
          </a:xfrm>
          <a:prstGeom prst="rect">
            <a:avLst/>
          </a:prstGeom>
          <a:solidFill>
            <a:srgbClr val="0891B2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37764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235440" y="3666744"/>
            <a:ext cx="2377440" cy="566928"/>
          </a:xfrm>
          <a:prstGeom prst="rect">
            <a:avLst/>
          </a:prstGeom>
          <a:solidFill>
            <a:srgbClr val="F97316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35440" y="37764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274320" y="4325112"/>
            <a:ext cx="3657600" cy="566928"/>
          </a:xfrm>
          <a:prstGeom prst="rect">
            <a:avLst/>
          </a:prstGeom>
          <a:solidFill>
            <a:srgbClr val="F59E0B">
              <a:alpha val="3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45312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Model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114800" y="4325112"/>
            <a:ext cx="2377440" cy="566928"/>
          </a:xfrm>
          <a:prstGeom prst="rect">
            <a:avLst/>
          </a:prstGeom>
          <a:solidFill>
            <a:srgbClr val="7C3AED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4434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675120" y="4325112"/>
            <a:ext cx="2377440" cy="566928"/>
          </a:xfrm>
          <a:prstGeom prst="rect">
            <a:avLst/>
          </a:prstGeom>
          <a:solidFill>
            <a:srgbClr val="0891B2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4434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235440" y="4325112"/>
            <a:ext cx="2377440" cy="566928"/>
          </a:xfrm>
          <a:prstGeom prst="rect">
            <a:avLst/>
          </a:prstGeom>
          <a:solidFill>
            <a:srgbClr val="F97316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35440" y="4434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274320" y="4983480"/>
            <a:ext cx="3657600" cy="566928"/>
          </a:xfrm>
          <a:prstGeom prst="rect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511149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Data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114800" y="4983480"/>
            <a:ext cx="2377440" cy="56692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75120" y="4983480"/>
            <a:ext cx="2377440" cy="566928"/>
          </a:xfrm>
          <a:prstGeom prst="rect">
            <a:avLst/>
          </a:prstGeom>
          <a:solidFill>
            <a:srgbClr val="0891B2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75120" y="5093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235440" y="4983480"/>
            <a:ext cx="2377440" cy="566928"/>
          </a:xfrm>
          <a:prstGeom prst="rect">
            <a:avLst/>
          </a:prstGeom>
          <a:solidFill>
            <a:srgbClr val="F97316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35440" y="5093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274320" y="5641848"/>
            <a:ext cx="3657600" cy="566928"/>
          </a:xfrm>
          <a:prstGeom prst="rect">
            <a:avLst/>
          </a:prstGeom>
          <a:solidFill>
            <a:srgbClr val="EF4444">
              <a:alpha val="3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576986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Infra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114800" y="5641848"/>
            <a:ext cx="2377440" cy="56692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75120" y="5641848"/>
            <a:ext cx="2377440" cy="566928"/>
          </a:xfrm>
          <a:prstGeom prst="rect">
            <a:avLst/>
          </a:prstGeom>
          <a:solidFill>
            <a:srgbClr val="0891B2">
              <a:alpha val="60000"/>
            </a:srgbClr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75120" y="57515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9235440" y="5641848"/>
            <a:ext cx="2377440" cy="56692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64922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Infrastructure: All initiatives share common L1 infra, L4 vector store, and L6 orchestration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&amp; COLLABORATION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715000" cy="438912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SSIR-PE AI Team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81912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81912"/>
            <a:ext cx="45720" cy="804672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55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" y="163677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TC DSK requests and send DSK the reinforced TC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" y="21122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Ongoing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514600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514600"/>
            <a:ext cx="45720" cy="804672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" y="256946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the structure of AI Initiative per 7-Layer model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" y="30449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April 24, 2026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447288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447288"/>
            <a:ext cx="45720" cy="804672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350215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Re-write AI Technology Application Development Roadmap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" y="397764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April 24, 2026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379976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379976"/>
            <a:ext cx="45720" cy="804672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453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" y="44348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Spec-to-Test pilot results with DSK-PE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49103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May 8, 2026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5312664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5312664"/>
            <a:ext cx="45720" cy="804672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385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" y="536752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common vector store schema for test context (L4)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" y="584301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May 15, 2026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1005840"/>
            <a:ext cx="571500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10789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DSK-PE AI Team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1581912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09360" y="1581912"/>
            <a:ext cx="4572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1655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93408" y="163677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vulnerable cases of function verification (classified as vulnerable)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93408" y="21122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Since April 2026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09360" y="2514600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09360" y="2514600"/>
            <a:ext cx="4572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93408" y="256946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technology &amp; tool expertise on Reinforcement Learning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93408" y="30449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April 2026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09360" y="3447288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09360" y="3447288"/>
            <a:ext cx="4572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693408" y="350215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current DSK AI projects to the 7-Layer Architecture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93408" y="397764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April 24, 2026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09360" y="4379976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309360" y="4379976"/>
            <a:ext cx="4572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46520" y="4453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693408" y="44348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NVMe &amp; SATA workload specs for RL environment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693408" y="49103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May 8, 2026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09360" y="5312664"/>
            <a:ext cx="571500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309360" y="5312664"/>
            <a:ext cx="4572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46520" y="5385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693408" y="536752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AI initiative coordinator from DSK-PE team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693408" y="584301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April 24, 2026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MODEL &amp;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sustainable AI engineering community across R&amp;D centers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657600" cy="5120640"/>
          </a:xfrm>
          <a:prstGeom prst="rect">
            <a:avLst/>
          </a:prstGeom>
          <a:solidFill>
            <a:srgbClr val="0D3B7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65760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Architecture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291840" cy="749808"/>
          </a:xfrm>
          <a:prstGeom prst="rect">
            <a:avLst/>
          </a:prstGeom>
          <a:solidFill>
            <a:srgbClr val="7C3AED">
              <a:alpha val="15000"/>
            </a:srgbClr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48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architecture review 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3291840" cy="749808"/>
          </a:xfrm>
          <a:prstGeom prst="rect">
            <a:avLst/>
          </a:prstGeom>
          <a:solidFill>
            <a:srgbClr val="7C3AED">
              <a:alpha val="15000"/>
            </a:srgbClr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089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7-Layer compliance checklist for new initiatives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3291840" cy="749808"/>
          </a:xfrm>
          <a:prstGeom prst="rect">
            <a:avLst/>
          </a:prstGeom>
          <a:solidFill>
            <a:srgbClr val="7C3AED">
              <a:alpha val="15000"/>
            </a:srgbClr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0690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API contracts between layers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3291840" cy="749808"/>
          </a:xfrm>
          <a:prstGeom prst="rect">
            <a:avLst/>
          </a:prstGeom>
          <a:solidFill>
            <a:srgbClr val="7C3AED">
              <a:alpha val="15000"/>
            </a:srgbClr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02920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model registry &amp; versioning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097280"/>
            <a:ext cx="3657600" cy="5120640"/>
          </a:xfrm>
          <a:prstGeom prst="rect">
            <a:avLst/>
          </a:prstGeom>
          <a:solidFill>
            <a:srgbClr val="0D3B7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097280"/>
            <a:ext cx="365760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143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Cadence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80560" y="2103120"/>
            <a:ext cx="3291840" cy="749808"/>
          </a:xfrm>
          <a:prstGeom prst="rect">
            <a:avLst/>
          </a:prstGeom>
          <a:solidFill>
            <a:srgbClr val="0891B2">
              <a:alpha val="15000"/>
            </a:srgbClr>
          </a:solidFill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148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sync: SSIR-PE ↔ DSK-PE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3063240"/>
            <a:ext cx="3291840" cy="749808"/>
          </a:xfrm>
          <a:prstGeom prst="rect">
            <a:avLst/>
          </a:prstGeom>
          <a:solidFill>
            <a:srgbClr val="0891B2">
              <a:alpha val="15000"/>
            </a:srgbClr>
          </a:solidFill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1089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Lessons &amp; Best Practice summit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4023360"/>
            <a:ext cx="3291840" cy="749808"/>
          </a:xfrm>
          <a:prstGeom prst="rect">
            <a:avLst/>
          </a:prstGeom>
          <a:solidFill>
            <a:srgbClr val="0891B2">
              <a:alpha val="15000"/>
            </a:srgbClr>
          </a:solidFill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40690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Confluence/Wiki for AI runbooks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4983480"/>
            <a:ext cx="3291840" cy="749808"/>
          </a:xfrm>
          <a:prstGeom prst="rect">
            <a:avLst/>
          </a:prstGeom>
          <a:solidFill>
            <a:srgbClr val="0891B2">
              <a:alpha val="15000"/>
            </a:srgbClr>
          </a:solidFill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502920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Inner-source code repository (GitHub)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1097280"/>
            <a:ext cx="3657600" cy="5120640"/>
          </a:xfrm>
          <a:prstGeom prst="rect">
            <a:avLst/>
          </a:prstGeom>
          <a:solidFill>
            <a:srgbClr val="0D3B7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1097280"/>
            <a:ext cx="365760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1143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Initiative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412480" y="2103120"/>
            <a:ext cx="3291840" cy="749808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21488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2026: Architecture alignment &amp; pilots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12480" y="3063240"/>
            <a:ext cx="3291840" cy="749808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31089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2026: Cross-team RL model sharing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412480" y="4023360"/>
            <a:ext cx="3291840" cy="749808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9640" y="40690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2026: Unified failure analysis pipeline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12480" y="4983480"/>
            <a:ext cx="3291840" cy="749808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49640" y="502920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2026: Full integration &amp; scale-out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1908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Meeting: TBD (April 2026) — AI Architecture alignment session | Confirm date with all R&amp;D centers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18288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12161520" cy="18288"/>
          </a:xfrm>
          <a:prstGeom prst="rect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645920"/>
            <a:ext cx="12161520" cy="18288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468880"/>
            <a:ext cx="12161520" cy="18288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291840"/>
            <a:ext cx="12161520" cy="18288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14800"/>
            <a:ext cx="12161520" cy="18288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937760"/>
            <a:ext cx="12161520" cy="18288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371600"/>
            <a:ext cx="9418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AI-POWERED QA — TOGETHER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36576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Initiatives · One Architecture · One Global Team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43434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44074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Spec-to-Test Generation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43434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44074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Workload Generation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43434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44074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Failure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Solutions Architecture  |  QA Engineering  |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INITIATIVE ROADMAP  —  1-YEAR PLAN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65760" y="6126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Engineering · FY2026 · Quality &amp; Efficiency AI Initiatives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24912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 (Jan–Mar)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960120"/>
            <a:ext cx="2724912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00584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 (Apr–Jun)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960120"/>
            <a:ext cx="2724912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00584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 (Jul–Sep)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006840" y="960120"/>
            <a:ext cx="2724912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6840" y="100584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 (Oct–Dec)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417320"/>
            <a:ext cx="11430000" cy="274320"/>
          </a:xfrm>
          <a:prstGeom prst="rect">
            <a:avLst/>
          </a:prstGeom>
          <a:solidFill>
            <a:srgbClr val="0D9488">
              <a:alpha val="7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444752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INITIATIVES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755648"/>
            <a:ext cx="2724912" cy="283464"/>
          </a:xfrm>
          <a:prstGeom prst="rect">
            <a:avLst/>
          </a:prstGeom>
          <a:solidFill>
            <a:srgbClr val="0D9488">
              <a:alpha val="70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7830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RCA / Anomaly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066544"/>
            <a:ext cx="2724912" cy="283464"/>
          </a:xfrm>
          <a:prstGeom prst="rect">
            <a:avLst/>
          </a:prstGeom>
          <a:solidFill>
            <a:srgbClr val="0D9488">
              <a:alpha val="52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0939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Analysis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77440"/>
            <a:ext cx="2724912" cy="283464"/>
          </a:xfrm>
          <a:prstGeom prst="rect">
            <a:avLst/>
          </a:prstGeom>
          <a:solidFill>
            <a:srgbClr val="0D9488">
              <a:alpha val="37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4048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Failure Analysis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1755648"/>
            <a:ext cx="2724912" cy="283464"/>
          </a:xfrm>
          <a:prstGeom prst="rect">
            <a:avLst/>
          </a:prstGeom>
          <a:solidFill>
            <a:srgbClr val="0D9488">
              <a:alpha val="70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17830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Prioritization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2066544"/>
            <a:ext cx="2724912" cy="283464"/>
          </a:xfrm>
          <a:prstGeom prst="rect">
            <a:avLst/>
          </a:prstGeom>
          <a:solidFill>
            <a:srgbClr val="0D9488">
              <a:alpha val="52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0939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Clustering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2377440"/>
            <a:ext cx="2724912" cy="283464"/>
          </a:xfrm>
          <a:prstGeom prst="rect">
            <a:avLst/>
          </a:prstGeom>
          <a:solidFill>
            <a:srgbClr val="0D9488">
              <a:alpha val="37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24048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Script Redundancy Removal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1755648"/>
            <a:ext cx="2724912" cy="283464"/>
          </a:xfrm>
          <a:prstGeom prst="rect">
            <a:avLst/>
          </a:prstGeom>
          <a:solidFill>
            <a:srgbClr val="0D9488">
              <a:alpha val="70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17830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2066544"/>
            <a:ext cx="2724912" cy="283464"/>
          </a:xfrm>
          <a:prstGeom prst="rect">
            <a:avLst/>
          </a:prstGeom>
          <a:solidFill>
            <a:srgbClr val="0D9488">
              <a:alpha val="52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20939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Score Improvement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2377440"/>
            <a:ext cx="2724912" cy="283464"/>
          </a:xfrm>
          <a:prstGeom prst="rect">
            <a:avLst/>
          </a:prstGeom>
          <a:solidFill>
            <a:srgbClr val="0D9488">
              <a:alpha val="37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24048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Code Generation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006840" y="1755648"/>
            <a:ext cx="2724912" cy="283464"/>
          </a:xfrm>
          <a:prstGeom prst="rect">
            <a:avLst/>
          </a:prstGeom>
          <a:solidFill>
            <a:srgbClr val="0D9488">
              <a:alpha val="70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79992" y="17830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Comment, Debug &amp; Fix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006840" y="2066544"/>
            <a:ext cx="2724912" cy="283464"/>
          </a:xfrm>
          <a:prstGeom prst="rect">
            <a:avLst/>
          </a:prstGeom>
          <a:solidFill>
            <a:srgbClr val="0D9488">
              <a:alpha val="52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79992" y="20939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Dependency Matrix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006840" y="2377440"/>
            <a:ext cx="2724912" cy="283464"/>
          </a:xfrm>
          <a:prstGeom prst="rect">
            <a:avLst/>
          </a:prstGeom>
          <a:solidFill>
            <a:srgbClr val="0D9488">
              <a:alpha val="37000"/>
            </a:srgbClr>
          </a:solidFill>
          <a:ln w="381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79992" y="24048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Framework Refactoring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2743200"/>
            <a:ext cx="11430000" cy="274320"/>
          </a:xfrm>
          <a:prstGeom prst="rect">
            <a:avLst/>
          </a:prstGeom>
          <a:solidFill>
            <a:srgbClr val="7C3AED">
              <a:alpha val="7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2779776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INITIATIVES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3090672"/>
            <a:ext cx="2724912" cy="283464"/>
          </a:xfrm>
          <a:prstGeom prst="rect">
            <a:avLst/>
          </a:prstGeom>
          <a:solidFill>
            <a:srgbClr val="7C3AED">
              <a:alpha val="70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311810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→ Test Scenarios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3401568"/>
            <a:ext cx="2724912" cy="283464"/>
          </a:xfrm>
          <a:prstGeom prst="rect">
            <a:avLst/>
          </a:prstGeom>
          <a:solidFill>
            <a:srgbClr val="7C3AED">
              <a:alpha val="52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34290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 → Scripts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46120" y="3090672"/>
            <a:ext cx="2724912" cy="283464"/>
          </a:xfrm>
          <a:prstGeom prst="rect">
            <a:avLst/>
          </a:prstGeom>
          <a:solidFill>
            <a:srgbClr val="7C3AED">
              <a:alpha val="70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19272" y="311810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→ Test Scenarios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46120" y="3401568"/>
            <a:ext cx="2724912" cy="283464"/>
          </a:xfrm>
          <a:prstGeom prst="rect">
            <a:avLst/>
          </a:prstGeom>
          <a:solidFill>
            <a:srgbClr val="7C3AED">
              <a:alpha val="52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9272" y="34290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Auto-Pilot – Test Plan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46120" y="3712464"/>
            <a:ext cx="2724912" cy="283464"/>
          </a:xfrm>
          <a:prstGeom prst="rect">
            <a:avLst/>
          </a:prstGeom>
          <a:solidFill>
            <a:srgbClr val="7C3AED">
              <a:alpha val="37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9272" y="37398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– Chat, Report, IMS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26480" y="3090672"/>
            <a:ext cx="2724912" cy="283464"/>
          </a:xfrm>
          <a:prstGeom prst="rect">
            <a:avLst/>
          </a:prstGeom>
          <a:solidFill>
            <a:srgbClr val="7C3AED">
              <a:alpha val="70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99632" y="311810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Assistant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26480" y="3401568"/>
            <a:ext cx="2724912" cy="283464"/>
          </a:xfrm>
          <a:prstGeom prst="rect">
            <a:avLst/>
          </a:prstGeom>
          <a:solidFill>
            <a:srgbClr val="7C3AED">
              <a:alpha val="52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99632" y="34290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 &amp; Summarize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26480" y="3712464"/>
            <a:ext cx="2724912" cy="283464"/>
          </a:xfrm>
          <a:prstGeom prst="rect">
            <a:avLst/>
          </a:prstGeom>
          <a:solidFill>
            <a:srgbClr val="7C3AED">
              <a:alpha val="37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99632" y="37398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Matrix Planner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26480" y="4023360"/>
            <a:ext cx="2724912" cy="283464"/>
          </a:xfrm>
          <a:prstGeom prst="rect">
            <a:avLst/>
          </a:prstGeom>
          <a:solidFill>
            <a:srgbClr val="7C3AED">
              <a:alpha val="28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9632" y="40507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Event Log Monitor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006840" y="3090672"/>
            <a:ext cx="2724912" cy="283464"/>
          </a:xfrm>
          <a:prstGeom prst="rect">
            <a:avLst/>
          </a:prstGeom>
          <a:solidFill>
            <a:srgbClr val="7C3AED">
              <a:alpha val="70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79992" y="311810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 Gen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006840" y="3401568"/>
            <a:ext cx="2724912" cy="283464"/>
          </a:xfrm>
          <a:prstGeom prst="rect">
            <a:avLst/>
          </a:prstGeom>
          <a:solidFill>
            <a:srgbClr val="7C3AED">
              <a:alpha val="52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079992" y="34290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 Firmware Validation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006840" y="3712464"/>
            <a:ext cx="2724912" cy="283464"/>
          </a:xfrm>
          <a:prstGeom prst="rect">
            <a:avLst/>
          </a:prstGeom>
          <a:solidFill>
            <a:srgbClr val="7C3AED">
              <a:alpha val="37000"/>
            </a:srgbClr>
          </a:solidFill>
          <a:ln w="381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79992" y="37398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Assistant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" y="5102352"/>
            <a:ext cx="11430000" cy="256032"/>
          </a:xfrm>
          <a:prstGeom prst="rect">
            <a:avLst/>
          </a:prstGeom>
          <a:solidFill>
            <a:srgbClr val="1E3A5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51389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618488" y="539496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565099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baseline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pilot launch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498848" y="5394960"/>
            <a:ext cx="219456" cy="21945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46120" y="565099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model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begins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379208" y="5394960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26480" y="565099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pipeline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0259568" y="5394960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006840" y="565099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deployment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KPI review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65760" y="6565392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shade = later in phase rollout    ◉ = Milestone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QUALITY AI USE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24160" y="155448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228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41832"/>
            <a:ext cx="27980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78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941832"/>
            <a:ext cx="2798064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978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KPI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941832"/>
            <a:ext cx="279806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978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KPI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15400" y="941832"/>
            <a:ext cx="2798064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06840" y="978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KPI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335024"/>
            <a:ext cx="11612880" cy="749808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335024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408176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RCA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Anomaly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46120" y="139903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accuracy ≥ 90%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&lt; 5%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26480" y="139903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RCA cycle time 60%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Auto-triage in &lt; 5 min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006840" y="139903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Manual effort 70%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more cases per engineer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130552"/>
            <a:ext cx="1161288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130552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203704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2194560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detection &gt; 95%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traceability 100%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26480" y="2194560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Manual review 50%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 &lt; 2 hrs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006840" y="2194560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Coverage throughput 3×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release escapes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926080"/>
            <a:ext cx="11612880" cy="749808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926080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999232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46120" y="2990088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Defect detect rate 25%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tests first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26480" y="2990088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Regression run time 40%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rank per commit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06840" y="2990088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Test ROI per cycle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wasted capacity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21608"/>
            <a:ext cx="1161288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21608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794760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46120" y="3785616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acc. 92%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linked to spec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26480" y="3785616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Turnaround 65%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 &lt; 10 min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006840" y="3785616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cases/engineer/day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auto-filed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517136"/>
            <a:ext cx="11612880" cy="749808"/>
          </a:xfrm>
          <a:prstGeom prst="rect">
            <a:avLst/>
          </a:prstGeom>
          <a:solidFill>
            <a:srgbClr val="F0FD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517136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590288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46120" y="4581144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Pre-merge bug catch 30%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compliance 99%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26480" y="4581144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Review cycle 50%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suggestions instant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006840" y="4581144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PRs reviewed/day 3×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focus on logic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5312664"/>
            <a:ext cx="1161288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5312664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5385816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Score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246120" y="537667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score target ≥ 85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compliance escapes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26480" y="537667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Manual audit effort 60%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score feedback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006840" y="537667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Developer self-service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compliance rework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74320" y="6583680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= Increase target   ↓ = Reduction target   KPIs measured quarterly against pre-initiative baseline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EFFICIENCY AI USE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149840" y="155448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49840" y="228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41832"/>
            <a:ext cx="279806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78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941832"/>
            <a:ext cx="2798064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978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KPI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941832"/>
            <a:ext cx="279806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978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KPI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15400" y="941832"/>
            <a:ext cx="2798064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06840" y="9784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KPI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335024"/>
            <a:ext cx="11612880" cy="74980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335024"/>
            <a:ext cx="457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408176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→ Test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46120" y="139903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coverage ≥ 95%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SME-validated accuracy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26480" y="139903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Scenario creation 70%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scenarios in &lt; 1 hr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006840" y="139903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Engineer output 5×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→ prod in 2 sprints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130552"/>
            <a:ext cx="1161288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130552"/>
            <a:ext cx="457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203704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Scripts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2194560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correctness ≥ 90%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syntax + logic check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26480" y="2194560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Script authoring 65%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CI-ready scripts same-day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006840" y="2194560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Script throughput 4×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rework on manual scripts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926080"/>
            <a:ext cx="11612880" cy="74980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926080"/>
            <a:ext cx="457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999232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Auto-Pilot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46120" y="2990088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completeness ≥ 98%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areas always covered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26480" y="2990088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Planning effort 60%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generated in &lt; 30 min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06840" y="2990088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Planning capacity 3×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QA leads for strategy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21608"/>
            <a:ext cx="1161288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21608"/>
            <a:ext cx="457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794760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– Chat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/ IMS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46120" y="3785616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accuracy ≥ 95%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traceability 100%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26480" y="3785616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Reporting effort 75%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status from chat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006840" y="3785616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Report gen speed 10×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IMS entry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517136"/>
            <a:ext cx="11612880" cy="74980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517136"/>
            <a:ext cx="457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590288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Event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Monitor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46120" y="4581144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97%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silent failures missed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26480" y="4581144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Log review time 80%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 in &lt; 1 min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006840" y="4581144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devices/FTE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vs. periodic review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5312664"/>
            <a:ext cx="11612880" cy="7498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5312664"/>
            <a:ext cx="457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5385816"/>
            <a:ext cx="2697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Valid.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246120" y="537667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coverage 100%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escape &lt; 1%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26480" y="537667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Validation cycle 50%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on DUTs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006840" y="5376672"/>
            <a:ext cx="2670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Throughput 3×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firmware release cadence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74320" y="6583680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= Increase target   ↓ = Reduction target   All KPIs baselined at initiative kickoff and reviewed quarterly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2026-04-20T05:06:00Z</dcterms:created>
  <dcterms:modified xsi:type="dcterms:W3CDTF">2026-04-20T05:06:00Z</dcterms:modified>
</cp:coreProperties>
</file>